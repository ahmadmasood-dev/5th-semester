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32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15" r:id="rId53"/>
    <p:sldId id="316" r:id="rId54"/>
    <p:sldId id="317" r:id="rId55"/>
    <p:sldId id="319" r:id="rId56"/>
    <p:sldId id="306" r:id="rId57"/>
    <p:sldId id="307" r:id="rId58"/>
    <p:sldId id="309" r:id="rId59"/>
    <p:sldId id="310" r:id="rId60"/>
    <p:sldId id="311" r:id="rId61"/>
    <p:sldId id="312" r:id="rId62"/>
    <p:sldId id="313" r:id="rId63"/>
    <p:sldId id="314"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417" autoAdjust="0"/>
  </p:normalViewPr>
  <p:slideViewPr>
    <p:cSldViewPr snapToGrid="0">
      <p:cViewPr varScale="1">
        <p:scale>
          <a:sx n="71" d="100"/>
          <a:sy n="71" d="100"/>
        </p:scale>
        <p:origin x="40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6D81E-E88B-48BF-8E3F-146479937ACC}" type="datetimeFigureOut">
              <a:rPr lang="en-US" smtClean="0"/>
              <a:t>10/2/2023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84924-AB83-4DF8-AEA4-A0EB45C854CC}" type="slidenum">
              <a:rPr lang="en-US" smtClean="0"/>
              <a:t>‹#›</a:t>
            </a:fld>
            <a:endParaRPr lang="en-US"/>
          </a:p>
        </p:txBody>
      </p:sp>
    </p:spTree>
    <p:extLst>
      <p:ext uri="{BB962C8B-B14F-4D97-AF65-F5344CB8AC3E}">
        <p14:creationId xmlns:p14="http://schemas.microsoft.com/office/powerpoint/2010/main" val="2884233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 It is hard these days to escape hearing about AI — in the news, on social media, in cafe conversations. A lot of the triumphs of superhuman performance as been in games, such as Jeopardy! (IBM Watson, 2011), Go (DeepMind’s AlphaGo, 2016), Dota 2 (</a:t>
            </a:r>
            <a:r>
              <a:rPr lang="en-US" sz="1600" dirty="0" err="1"/>
              <a:t>OpenAI</a:t>
            </a:r>
            <a:r>
              <a:rPr lang="en-US" sz="1600" dirty="0"/>
              <a:t>, 2019), Poker (CMU and Facebook, 2019).</a:t>
            </a:r>
          </a:p>
          <a:p>
            <a:r>
              <a:rPr lang="en-US" sz="1600" dirty="0"/>
              <a:t> • On non-game tasks, we also have systems that achieve or surpass human-level performance on reading comprehension, speech recognition, face recognition, and medical imaging benchmarks. • Unlike games, however, where the game is the full problem, good performance on a benchmark does not necessarily translate to good performance on the actual task in the wild. Just because you ace an exam doesn’t necessarily mean you have perfect understanding or know how to apply that knowledge to real problems. </a:t>
            </a:r>
          </a:p>
        </p:txBody>
      </p:sp>
      <p:sp>
        <p:nvSpPr>
          <p:cNvPr id="4" name="Slide Number Placeholder 3"/>
          <p:cNvSpPr>
            <a:spLocks noGrp="1"/>
          </p:cNvSpPr>
          <p:nvPr>
            <p:ph type="sldNum" sz="quarter" idx="5"/>
          </p:nvPr>
        </p:nvSpPr>
        <p:spPr/>
        <p:txBody>
          <a:bodyPr/>
          <a:lstStyle/>
          <a:p>
            <a:fld id="{BFF84924-AB83-4DF8-AEA4-A0EB45C854CC}" type="slidenum">
              <a:rPr lang="en-US" smtClean="0"/>
              <a:t>3</a:t>
            </a:fld>
            <a:endParaRPr lang="en-US"/>
          </a:p>
        </p:txBody>
      </p:sp>
    </p:spTree>
    <p:extLst>
      <p:ext uri="{BB962C8B-B14F-4D97-AF65-F5344CB8AC3E}">
        <p14:creationId xmlns:p14="http://schemas.microsoft.com/office/powerpoint/2010/main" val="2811290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see speculation about the future: that it will bring about sweeping societal change due to automation, resulting in massive job loss, not unlike the industrial revolution, or that AI could even surpass human-level intelligence and seek to take control.</a:t>
            </a:r>
          </a:p>
          <a:p>
            <a:r>
              <a:rPr lang="en-US" dirty="0"/>
              <a:t> • While AI is likely to be transformational, what kind of transformation the future will hold, no one knows</a:t>
            </a:r>
          </a:p>
        </p:txBody>
      </p:sp>
      <p:sp>
        <p:nvSpPr>
          <p:cNvPr id="4" name="Slide Number Placeholder 3"/>
          <p:cNvSpPr>
            <a:spLocks noGrp="1"/>
          </p:cNvSpPr>
          <p:nvPr>
            <p:ph type="sldNum" sz="quarter" idx="5"/>
          </p:nvPr>
        </p:nvSpPr>
        <p:spPr/>
        <p:txBody>
          <a:bodyPr/>
          <a:lstStyle/>
          <a:p>
            <a:fld id="{BFF84924-AB83-4DF8-AEA4-A0EB45C854CC}" type="slidenum">
              <a:rPr lang="en-US" smtClean="0"/>
              <a:t>4</a:t>
            </a:fld>
            <a:endParaRPr lang="en-US"/>
          </a:p>
        </p:txBody>
      </p:sp>
    </p:spTree>
    <p:extLst>
      <p:ext uri="{BB962C8B-B14F-4D97-AF65-F5344CB8AC3E}">
        <p14:creationId xmlns:p14="http://schemas.microsoft.com/office/powerpoint/2010/main" val="2343728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we get here? The name </a:t>
            </a:r>
            <a:r>
              <a:rPr lang="en-US" dirty="0" err="1"/>
              <a:t>artifical</a:t>
            </a:r>
            <a:r>
              <a:rPr lang="en-US" dirty="0"/>
              <a:t> intelligence goes back to a summer in 1956. John McCarthy, who was then at MIT but later founded the Stanford AI lab, organized a workshop at Dartmouth College with the leading thinkers of the time, and set out a very bold proposal...to build a system that could do it all.</a:t>
            </a:r>
          </a:p>
        </p:txBody>
      </p:sp>
      <p:sp>
        <p:nvSpPr>
          <p:cNvPr id="4" name="Slide Number Placeholder 3"/>
          <p:cNvSpPr>
            <a:spLocks noGrp="1"/>
          </p:cNvSpPr>
          <p:nvPr>
            <p:ph type="sldNum" sz="quarter" idx="5"/>
          </p:nvPr>
        </p:nvSpPr>
        <p:spPr/>
        <p:txBody>
          <a:bodyPr/>
          <a:lstStyle/>
          <a:p>
            <a:fld id="{BFF84924-AB83-4DF8-AEA4-A0EB45C854CC}" type="slidenum">
              <a:rPr lang="en-US" smtClean="0"/>
              <a:t>5</a:t>
            </a:fld>
            <a:endParaRPr lang="en-US"/>
          </a:p>
        </p:txBody>
      </p:sp>
    </p:spTree>
    <p:extLst>
      <p:ext uri="{BB962C8B-B14F-4D97-AF65-F5344CB8AC3E}">
        <p14:creationId xmlns:p14="http://schemas.microsoft.com/office/powerpoint/2010/main" val="123904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they did not solve it all, there were a lot of interesting programs that were created: programs that could play checkers at a strong amateur level, programs that could prove theorems. • For one theorem Newell and Simon’s Logical Theorist actually found a proof that was more elegant than what a human came up with. They actually tried to publish a paper on it but it got rejected because it was not a new theorem; perhaps they failed to realize that the third author was a computer program. • From the beginning, people like John McCarthy sought generality, thinking of how commonsense reasoning could be encoded in logic. Newell and Simon’s General Problem Solver promised to solve any problem (which could be suitably encoded in logic).</a:t>
            </a:r>
          </a:p>
        </p:txBody>
      </p:sp>
      <p:sp>
        <p:nvSpPr>
          <p:cNvPr id="4" name="Slide Number Placeholder 3"/>
          <p:cNvSpPr>
            <a:spLocks noGrp="1"/>
          </p:cNvSpPr>
          <p:nvPr>
            <p:ph type="sldNum" sz="quarter" idx="5"/>
          </p:nvPr>
        </p:nvSpPr>
        <p:spPr/>
        <p:txBody>
          <a:bodyPr/>
          <a:lstStyle/>
          <a:p>
            <a:fld id="{BFF84924-AB83-4DF8-AEA4-A0EB45C854CC}" type="slidenum">
              <a:rPr lang="en-US" smtClean="0"/>
              <a:t>6</a:t>
            </a:fld>
            <a:endParaRPr lang="en-US"/>
          </a:p>
        </p:txBody>
      </p:sp>
    </p:spTree>
    <p:extLst>
      <p:ext uri="{BB962C8B-B14F-4D97-AF65-F5344CB8AC3E}">
        <p14:creationId xmlns:p14="http://schemas.microsoft.com/office/powerpoint/2010/main" val="116133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was a time of high optimism, with all the leaders of the field, all impressive thinkers, predicting that AI would be ”solved” in a matter of years</a:t>
            </a:r>
          </a:p>
        </p:txBody>
      </p:sp>
      <p:sp>
        <p:nvSpPr>
          <p:cNvPr id="4" name="Slide Number Placeholder 3"/>
          <p:cNvSpPr>
            <a:spLocks noGrp="1"/>
          </p:cNvSpPr>
          <p:nvPr>
            <p:ph type="sldNum" sz="quarter" idx="5"/>
          </p:nvPr>
        </p:nvSpPr>
        <p:spPr/>
        <p:txBody>
          <a:bodyPr/>
          <a:lstStyle/>
          <a:p>
            <a:fld id="{BFF84924-AB83-4DF8-AEA4-A0EB45C854CC}" type="slidenum">
              <a:rPr lang="en-US" smtClean="0"/>
              <a:t>7</a:t>
            </a:fld>
            <a:endParaRPr lang="en-US"/>
          </a:p>
        </p:txBody>
      </p:sp>
    </p:spTree>
    <p:extLst>
      <p:ext uri="{BB962C8B-B14F-4D97-AF65-F5344CB8AC3E}">
        <p14:creationId xmlns:p14="http://schemas.microsoft.com/office/powerpoint/2010/main" val="3645413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some successes, certain tasks such as machine translation were complete failures, which lead to the cutting of funding and the first AI winter.</a:t>
            </a:r>
          </a:p>
        </p:txBody>
      </p:sp>
      <p:sp>
        <p:nvSpPr>
          <p:cNvPr id="4" name="Slide Number Placeholder 3"/>
          <p:cNvSpPr>
            <a:spLocks noGrp="1"/>
          </p:cNvSpPr>
          <p:nvPr>
            <p:ph type="sldNum" sz="quarter" idx="5"/>
          </p:nvPr>
        </p:nvSpPr>
        <p:spPr/>
        <p:txBody>
          <a:bodyPr/>
          <a:lstStyle/>
          <a:p>
            <a:fld id="{BFF84924-AB83-4DF8-AEA4-A0EB45C854CC}" type="slidenum">
              <a:rPr lang="en-US" smtClean="0"/>
              <a:t>8</a:t>
            </a:fld>
            <a:endParaRPr lang="en-US"/>
          </a:p>
        </p:txBody>
      </p:sp>
    </p:spTree>
    <p:extLst>
      <p:ext uri="{BB962C8B-B14F-4D97-AF65-F5344CB8AC3E}">
        <p14:creationId xmlns:p14="http://schemas.microsoft.com/office/powerpoint/2010/main" val="3901607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went wrong? It turns out that the real world is very complex and most AI problems require a lot of compute and data. </a:t>
            </a:r>
          </a:p>
          <a:p>
            <a:r>
              <a:rPr lang="en-US" dirty="0"/>
              <a:t>• The hardware at the time was simply too limited both compared to the human brain and computers available now. Also, casting problems as general logical reasoning meant that the approaches fell prey to the exponential search space, which no possible amount of compute could really fix. </a:t>
            </a:r>
          </a:p>
          <a:p>
            <a:r>
              <a:rPr lang="en-US" dirty="0"/>
              <a:t>• Even if you had infinite compute, AI would not be solved. There are simply too many words, objects, and concepts in the world, and this information has to be somehow encoded in the AI system. </a:t>
            </a:r>
          </a:p>
          <a:p>
            <a:r>
              <a:rPr lang="en-US" dirty="0"/>
              <a:t>• Though AI was not solved, a few generally useful technologies came out of the effort, such as Lisp (still the world’s most advanced programming language in a sense).</a:t>
            </a:r>
          </a:p>
          <a:p>
            <a:r>
              <a:rPr lang="en-US" dirty="0"/>
              <a:t> • One particularly powerful paradigm is the separation between what you want to compute (modeling) and how to compute it (inference).</a:t>
            </a:r>
          </a:p>
        </p:txBody>
      </p:sp>
      <p:sp>
        <p:nvSpPr>
          <p:cNvPr id="4" name="Slide Number Placeholder 3"/>
          <p:cNvSpPr>
            <a:spLocks noGrp="1"/>
          </p:cNvSpPr>
          <p:nvPr>
            <p:ph type="sldNum" sz="quarter" idx="5"/>
          </p:nvPr>
        </p:nvSpPr>
        <p:spPr/>
        <p:txBody>
          <a:bodyPr/>
          <a:lstStyle/>
          <a:p>
            <a:fld id="{BFF84924-AB83-4DF8-AEA4-A0EB45C854CC}" type="slidenum">
              <a:rPr lang="en-US" smtClean="0"/>
              <a:t>9</a:t>
            </a:fld>
            <a:endParaRPr lang="en-US"/>
          </a:p>
        </p:txBody>
      </p:sp>
    </p:spTree>
    <p:extLst>
      <p:ext uri="{BB962C8B-B14F-4D97-AF65-F5344CB8AC3E}">
        <p14:creationId xmlns:p14="http://schemas.microsoft.com/office/powerpoint/2010/main" val="443469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seventies and eighties, AI researchers looked to knowledge as a way to combat both the limited computation and information problems. If we could only figure out a way to encode prior knowledge in these systems, then they would have the necessary information and also have to do less compute.</a:t>
            </a:r>
          </a:p>
        </p:txBody>
      </p:sp>
      <p:sp>
        <p:nvSpPr>
          <p:cNvPr id="4" name="Slide Number Placeholder 3"/>
          <p:cNvSpPr>
            <a:spLocks noGrp="1"/>
          </p:cNvSpPr>
          <p:nvPr>
            <p:ph type="sldNum" sz="quarter" idx="5"/>
          </p:nvPr>
        </p:nvSpPr>
        <p:spPr/>
        <p:txBody>
          <a:bodyPr/>
          <a:lstStyle/>
          <a:p>
            <a:fld id="{BFF84924-AB83-4DF8-AEA4-A0EB45C854CC}" type="slidenum">
              <a:rPr lang="en-US" smtClean="0"/>
              <a:t>10</a:t>
            </a:fld>
            <a:endParaRPr lang="en-US"/>
          </a:p>
        </p:txBody>
      </p:sp>
    </p:spTree>
    <p:extLst>
      <p:ext uri="{BB962C8B-B14F-4D97-AF65-F5344CB8AC3E}">
        <p14:creationId xmlns:p14="http://schemas.microsoft.com/office/powerpoint/2010/main" val="4070640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the solve-it-all optimism from the 1950s, researchers focused on building narrow practical systems in targeted domains. These became known as expert systems.</a:t>
            </a:r>
          </a:p>
        </p:txBody>
      </p:sp>
      <p:sp>
        <p:nvSpPr>
          <p:cNvPr id="4" name="Slide Number Placeholder 3"/>
          <p:cNvSpPr>
            <a:spLocks noGrp="1"/>
          </p:cNvSpPr>
          <p:nvPr>
            <p:ph type="sldNum" sz="quarter" idx="5"/>
          </p:nvPr>
        </p:nvSpPr>
        <p:spPr/>
        <p:txBody>
          <a:bodyPr/>
          <a:lstStyle/>
          <a:p>
            <a:fld id="{BFF84924-AB83-4DF8-AEA4-A0EB45C854CC}" type="slidenum">
              <a:rPr lang="en-US" smtClean="0"/>
              <a:t>11</a:t>
            </a:fld>
            <a:endParaRPr lang="en-US"/>
          </a:p>
        </p:txBody>
      </p:sp>
    </p:spTree>
    <p:extLst>
      <p:ext uri="{BB962C8B-B14F-4D97-AF65-F5344CB8AC3E}">
        <p14:creationId xmlns:p14="http://schemas.microsoft.com/office/powerpoint/2010/main" val="1634171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first time AI had a measurable impact on industry. However, the technology ran into limitations and failed to scale up to more complex problems. Due to plenty of overpromising and underdelivering, the field collapsed again.</a:t>
            </a:r>
          </a:p>
          <a:p>
            <a:r>
              <a:rPr lang="en-US" dirty="0"/>
              <a:t> • We know that this is not the end of the AI story, but actually it is not the beginning. There is another thread for which we need to go back to 1943.</a:t>
            </a:r>
          </a:p>
        </p:txBody>
      </p:sp>
      <p:sp>
        <p:nvSpPr>
          <p:cNvPr id="4" name="Slide Number Placeholder 3"/>
          <p:cNvSpPr>
            <a:spLocks noGrp="1"/>
          </p:cNvSpPr>
          <p:nvPr>
            <p:ph type="sldNum" sz="quarter" idx="5"/>
          </p:nvPr>
        </p:nvSpPr>
        <p:spPr/>
        <p:txBody>
          <a:bodyPr/>
          <a:lstStyle/>
          <a:p>
            <a:fld id="{BFF84924-AB83-4DF8-AEA4-A0EB45C854CC}" type="slidenum">
              <a:rPr lang="en-US" smtClean="0"/>
              <a:t>12</a:t>
            </a:fld>
            <a:endParaRPr lang="en-US"/>
          </a:p>
        </p:txBody>
      </p:sp>
    </p:spTree>
    <p:extLst>
      <p:ext uri="{BB962C8B-B14F-4D97-AF65-F5344CB8AC3E}">
        <p14:creationId xmlns:p14="http://schemas.microsoft.com/office/powerpoint/2010/main" val="936877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Much of AI’s history was dominated by the logical tradition, but there was another smaller camp, grounded in neural networks inspired by the brain. </a:t>
            </a:r>
          </a:p>
          <a:p>
            <a:r>
              <a:rPr lang="en-US" dirty="0"/>
              <a:t>• (Artificial) neural networks were introduced by a famous paper by McCulloch and Pitts, who devised a simple mathematical model and showed how it could be </a:t>
            </a:r>
            <a:r>
              <a:rPr lang="en-US" dirty="0" err="1"/>
              <a:t>be</a:t>
            </a:r>
            <a:r>
              <a:rPr lang="en-US" dirty="0"/>
              <a:t> used to compute arbitrary logical functions. </a:t>
            </a:r>
          </a:p>
          <a:p>
            <a:r>
              <a:rPr lang="en-US" dirty="0"/>
              <a:t>• Much of the early work was on understanding the mathematical properties of these networks, since computers were too weak to do anything interesting.</a:t>
            </a:r>
          </a:p>
          <a:p>
            <a:r>
              <a:rPr lang="en-US" dirty="0"/>
              <a:t>• In 1969, a book was published that explored many mathematical properties of </a:t>
            </a:r>
            <a:r>
              <a:rPr lang="en-US" dirty="0" err="1"/>
              <a:t>Perceptrons</a:t>
            </a:r>
            <a:r>
              <a:rPr lang="en-US" dirty="0"/>
              <a:t> (linear models) and showed that they could not solve some simple problems such as XOR. Even though this result says nothing about the capabilities of deeper networks, the book is largely credited with the demise of neural networks research, and the continued rise of logical AI.</a:t>
            </a:r>
          </a:p>
        </p:txBody>
      </p:sp>
      <p:sp>
        <p:nvSpPr>
          <p:cNvPr id="4" name="Slide Number Placeholder 3"/>
          <p:cNvSpPr>
            <a:spLocks noGrp="1"/>
          </p:cNvSpPr>
          <p:nvPr>
            <p:ph type="sldNum" sz="quarter" idx="5"/>
          </p:nvPr>
        </p:nvSpPr>
        <p:spPr/>
        <p:txBody>
          <a:bodyPr/>
          <a:lstStyle/>
          <a:p>
            <a:fld id="{BFF84924-AB83-4DF8-AEA4-A0EB45C854CC}" type="slidenum">
              <a:rPr lang="en-US" smtClean="0"/>
              <a:t>13</a:t>
            </a:fld>
            <a:endParaRPr lang="en-US"/>
          </a:p>
        </p:txBody>
      </p:sp>
    </p:spTree>
    <p:extLst>
      <p:ext uri="{BB962C8B-B14F-4D97-AF65-F5344CB8AC3E}">
        <p14:creationId xmlns:p14="http://schemas.microsoft.com/office/powerpoint/2010/main" val="2134219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1980s, there was a renewed interest in neural networks. Backpropagation was rediscovered and popularized as a way to actually train deep neural networks, and Yann </a:t>
            </a:r>
            <a:r>
              <a:rPr lang="en-US" dirty="0" err="1"/>
              <a:t>LeCun</a:t>
            </a:r>
            <a:r>
              <a:rPr lang="en-US" dirty="0"/>
              <a:t> built a system based on convolutional neural networks to recognize handwritten digits. This was one of the first successful uses of neural networks, which was then deployed by the USPS to recognize zip codes.</a:t>
            </a:r>
          </a:p>
        </p:txBody>
      </p:sp>
      <p:sp>
        <p:nvSpPr>
          <p:cNvPr id="4" name="Slide Number Placeholder 3"/>
          <p:cNvSpPr>
            <a:spLocks noGrp="1"/>
          </p:cNvSpPr>
          <p:nvPr>
            <p:ph type="sldNum" sz="quarter" idx="5"/>
          </p:nvPr>
        </p:nvSpPr>
        <p:spPr/>
        <p:txBody>
          <a:bodyPr/>
          <a:lstStyle/>
          <a:p>
            <a:fld id="{BFF84924-AB83-4DF8-AEA4-A0EB45C854CC}" type="slidenum">
              <a:rPr lang="en-US" smtClean="0"/>
              <a:t>14</a:t>
            </a:fld>
            <a:endParaRPr lang="en-US"/>
          </a:p>
        </p:txBody>
      </p:sp>
    </p:spTree>
    <p:extLst>
      <p:ext uri="{BB962C8B-B14F-4D97-AF65-F5344CB8AC3E}">
        <p14:creationId xmlns:p14="http://schemas.microsoft.com/office/powerpoint/2010/main" val="4205006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break for neural networks came in the 2010s. With the rise of compute (notably GPUs) and large datasets such as ImageNet (2009), the time was ripe for the world to take note of neural networks. </a:t>
            </a:r>
          </a:p>
          <a:p>
            <a:r>
              <a:rPr lang="en-US" dirty="0"/>
              <a:t>• </a:t>
            </a:r>
            <a:r>
              <a:rPr lang="en-US" dirty="0" err="1"/>
              <a:t>AlexNet</a:t>
            </a:r>
            <a:r>
              <a:rPr lang="en-US" dirty="0"/>
              <a:t> was a pivotal system that showed the promise of deep convolutional networks on ImageNet, the benchmark created by the computer vision community who was at the time still skeptical of deep learning. Many other success stories in speech recognition and machine translation followed</a:t>
            </a:r>
          </a:p>
        </p:txBody>
      </p:sp>
      <p:sp>
        <p:nvSpPr>
          <p:cNvPr id="4" name="Slide Number Placeholder 3"/>
          <p:cNvSpPr>
            <a:spLocks noGrp="1"/>
          </p:cNvSpPr>
          <p:nvPr>
            <p:ph type="sldNum" sz="quarter" idx="5"/>
          </p:nvPr>
        </p:nvSpPr>
        <p:spPr/>
        <p:txBody>
          <a:bodyPr/>
          <a:lstStyle/>
          <a:p>
            <a:fld id="{BFF84924-AB83-4DF8-AEA4-A0EB45C854CC}" type="slidenum">
              <a:rPr lang="en-US" smtClean="0"/>
              <a:t>15</a:t>
            </a:fld>
            <a:endParaRPr lang="en-US"/>
          </a:p>
        </p:txBody>
      </p:sp>
    </p:spTree>
    <p:extLst>
      <p:ext uri="{BB962C8B-B14F-4D97-AF65-F5344CB8AC3E}">
        <p14:creationId xmlns:p14="http://schemas.microsoft.com/office/powerpoint/2010/main" val="2256264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Reflecting back on the past of AI, there have been two intellectual traditions that have dominated the scene: one rooted in logic and one rooted in neuroscience (at least initially). This debate is paralleled in cognitive science with connectionism and computationalism. </a:t>
            </a:r>
          </a:p>
          <a:p>
            <a:r>
              <a:rPr lang="en-US" dirty="0"/>
              <a:t>• While there are deep philosophical differences, perhaps there are deeper connections. </a:t>
            </a:r>
          </a:p>
          <a:p>
            <a:r>
              <a:rPr lang="en-US" dirty="0"/>
              <a:t>• For example, McCulloch and Pitts’ work from 1943 can be viewed as the root of deep learning, but that paper is mostly about how to implement logical operations. </a:t>
            </a:r>
          </a:p>
          <a:p>
            <a:r>
              <a:rPr lang="en-US" dirty="0"/>
              <a:t>• The game of Go (and indeed, many games) can be perfectly characterized by a set of simple logic rules. At the same time, the most successful systems (AlphaGo) do not tackle the problem directly using logic, but appeal to the fuzzier world of artificial neural networks.</a:t>
            </a:r>
          </a:p>
        </p:txBody>
      </p:sp>
      <p:sp>
        <p:nvSpPr>
          <p:cNvPr id="4" name="Slide Number Placeholder 3"/>
          <p:cNvSpPr>
            <a:spLocks noGrp="1"/>
          </p:cNvSpPr>
          <p:nvPr>
            <p:ph type="sldNum" sz="quarter" idx="5"/>
          </p:nvPr>
        </p:nvSpPr>
        <p:spPr/>
        <p:txBody>
          <a:bodyPr/>
          <a:lstStyle/>
          <a:p>
            <a:fld id="{BFF84924-AB83-4DF8-AEA4-A0EB45C854CC}" type="slidenum">
              <a:rPr lang="en-US" smtClean="0"/>
              <a:t>16</a:t>
            </a:fld>
            <a:endParaRPr lang="en-US"/>
          </a:p>
        </p:txBody>
      </p:sp>
    </p:spTree>
    <p:extLst>
      <p:ext uri="{BB962C8B-B14F-4D97-AF65-F5344CB8AC3E}">
        <p14:creationId xmlns:p14="http://schemas.microsoft.com/office/powerpoint/2010/main" val="324413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any story is incomplete. • In fact, for much of the 1990s and 2000s, neural networks were not popular in the machine learning community, and the field was dominated more by techniques such as Support Vector Machines (SVMs) inspired by statistical theory. </a:t>
            </a:r>
          </a:p>
          <a:p>
            <a:r>
              <a:rPr lang="en-US" dirty="0"/>
              <a:t>• The fuller picture is that the modern world of AI is more like New York City—it is a melting pot that has drawn from many different fields ranging from statistics, algorithms, economics, etc. </a:t>
            </a:r>
          </a:p>
          <a:p>
            <a:r>
              <a:rPr lang="en-US" dirty="0"/>
              <a:t>• And often it is the new connections between these fields that are made and their application to important real-world problems that makes working on AI so rewarding.</a:t>
            </a:r>
          </a:p>
        </p:txBody>
      </p:sp>
      <p:sp>
        <p:nvSpPr>
          <p:cNvPr id="4" name="Slide Number Placeholder 3"/>
          <p:cNvSpPr>
            <a:spLocks noGrp="1"/>
          </p:cNvSpPr>
          <p:nvPr>
            <p:ph type="sldNum" sz="quarter" idx="5"/>
          </p:nvPr>
        </p:nvSpPr>
        <p:spPr/>
        <p:txBody>
          <a:bodyPr/>
          <a:lstStyle/>
          <a:p>
            <a:fld id="{BFF84924-AB83-4DF8-AEA4-A0EB45C854CC}" type="slidenum">
              <a:rPr lang="en-US" smtClean="0"/>
              <a:t>17</a:t>
            </a:fld>
            <a:endParaRPr lang="en-US"/>
          </a:p>
        </p:txBody>
      </p:sp>
    </p:spTree>
    <p:extLst>
      <p:ext uri="{BB962C8B-B14F-4D97-AF65-F5344CB8AC3E}">
        <p14:creationId xmlns:p14="http://schemas.microsoft.com/office/powerpoint/2010/main" val="2825464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are two ways to look at AI philosophically. </a:t>
            </a:r>
          </a:p>
          <a:p>
            <a:r>
              <a:rPr lang="en-US" dirty="0"/>
              <a:t>• The first is what one would normally associate with AI: the science and engineering of building ”intelligent” agents. The inspiration of what constitutes intelligence comes from the types of capabilities that humans possess: the ability to perceive a very complex world and make enough sense of it to be able to manipulate it. </a:t>
            </a:r>
          </a:p>
          <a:p>
            <a:r>
              <a:rPr lang="en-US" dirty="0"/>
              <a:t>• The second views AI as a set of tools. We are simply trying to solve problems in the world, and techniques developed by the AI community happen to be useful for that, but these problems are not ones that humans necessarily do well on natively. </a:t>
            </a:r>
          </a:p>
          <a:p>
            <a:r>
              <a:rPr lang="en-US" dirty="0"/>
              <a:t>• However, both views boil down to many of the same day-to-day activities (e.g., collecting data and optimizing a training objective), the philosophical differences do change the way AI researchers approach and talk about their work. Moreover, the conflation of these two views can generate a lot of confusion</a:t>
            </a:r>
          </a:p>
        </p:txBody>
      </p:sp>
      <p:sp>
        <p:nvSpPr>
          <p:cNvPr id="4" name="Slide Number Placeholder 3"/>
          <p:cNvSpPr>
            <a:spLocks noGrp="1"/>
          </p:cNvSpPr>
          <p:nvPr>
            <p:ph type="sldNum" sz="quarter" idx="5"/>
          </p:nvPr>
        </p:nvSpPr>
        <p:spPr/>
        <p:txBody>
          <a:bodyPr/>
          <a:lstStyle/>
          <a:p>
            <a:fld id="{BFF84924-AB83-4DF8-AEA4-A0EB45C854CC}" type="slidenum">
              <a:rPr lang="en-US" smtClean="0"/>
              <a:t>19</a:t>
            </a:fld>
            <a:endParaRPr lang="en-US"/>
          </a:p>
        </p:txBody>
      </p:sp>
    </p:spTree>
    <p:extLst>
      <p:ext uri="{BB962C8B-B14F-4D97-AF65-F5344CB8AC3E}">
        <p14:creationId xmlns:p14="http://schemas.microsoft.com/office/powerpoint/2010/main" val="2720952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for the agent-based view is ourselves. </a:t>
            </a:r>
          </a:p>
          <a:p>
            <a:r>
              <a:rPr lang="en-US" dirty="0"/>
              <a:t>• As humans, we have to be able to perceive the world (computer vision), perform actions in it (robotics), and communicate with other agents (language). </a:t>
            </a:r>
          </a:p>
          <a:p>
            <a:r>
              <a:rPr lang="en-US" dirty="0"/>
              <a:t>• We also have knowledge about the world (from procedural knowledge like how to ride a bike, to declarative knowledge like remembering the capital of France), and using this knowledge we can draw inferences and make decisions (reasoning). </a:t>
            </a:r>
          </a:p>
          <a:p>
            <a:r>
              <a:rPr lang="en-US" dirty="0"/>
              <a:t>• Finally, we learn and adapt over time. We are born with none of the skills that we possess as adults, but rather the capacity to acquire them. Indeed machine learning has become the primary driver of many of the AI applications we see today.</a:t>
            </a:r>
          </a:p>
        </p:txBody>
      </p:sp>
      <p:sp>
        <p:nvSpPr>
          <p:cNvPr id="4" name="Slide Number Placeholder 3"/>
          <p:cNvSpPr>
            <a:spLocks noGrp="1"/>
          </p:cNvSpPr>
          <p:nvPr>
            <p:ph type="sldNum" sz="quarter" idx="5"/>
          </p:nvPr>
        </p:nvSpPr>
        <p:spPr/>
        <p:txBody>
          <a:bodyPr/>
          <a:lstStyle/>
          <a:p>
            <a:fld id="{BFF84924-AB83-4DF8-AEA4-A0EB45C854CC}" type="slidenum">
              <a:rPr lang="en-US" smtClean="0"/>
              <a:t>21</a:t>
            </a:fld>
            <a:endParaRPr lang="en-US"/>
          </a:p>
        </p:txBody>
      </p:sp>
    </p:spTree>
    <p:extLst>
      <p:ext uri="{BB962C8B-B14F-4D97-AF65-F5344CB8AC3E}">
        <p14:creationId xmlns:p14="http://schemas.microsoft.com/office/powerpoint/2010/main" val="3536119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AI agents view is an inspiring quest to undercover the mysteries of intelligence and tackle the tasks that humans are good at. While there has been a lot of progress, we still have a long way to go along some dimensions: for example, the ability to learn quickly from few examples or the ability to perform commonsense reasoning.</a:t>
            </a:r>
          </a:p>
          <a:p>
            <a:r>
              <a:rPr lang="en-US" dirty="0"/>
              <a:t> • There is still a huge gap between the regimes that humans and machines operate in. For example, AlphaGo learned from 19.6 million games, but can only do one thing: play Go. Humans on the other hand learn from a much wider set of experiences, and can do many things</a:t>
            </a:r>
          </a:p>
        </p:txBody>
      </p:sp>
      <p:sp>
        <p:nvSpPr>
          <p:cNvPr id="4" name="Slide Number Placeholder 3"/>
          <p:cNvSpPr>
            <a:spLocks noGrp="1"/>
          </p:cNvSpPr>
          <p:nvPr>
            <p:ph type="sldNum" sz="quarter" idx="5"/>
          </p:nvPr>
        </p:nvSpPr>
        <p:spPr/>
        <p:txBody>
          <a:bodyPr/>
          <a:lstStyle/>
          <a:p>
            <a:fld id="{BFF84924-AB83-4DF8-AEA4-A0EB45C854CC}" type="slidenum">
              <a:rPr lang="en-US" smtClean="0"/>
              <a:t>22</a:t>
            </a:fld>
            <a:endParaRPr lang="en-US"/>
          </a:p>
        </p:txBody>
      </p:sp>
    </p:spTree>
    <p:extLst>
      <p:ext uri="{BB962C8B-B14F-4D97-AF65-F5344CB8AC3E}">
        <p14:creationId xmlns:p14="http://schemas.microsoft.com/office/powerpoint/2010/main" val="1931747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other view of AI is less about re-creating the capabilities that humans have, and more about how to benefit humans. </a:t>
            </a:r>
          </a:p>
          <a:p>
            <a:r>
              <a:rPr lang="en-US" dirty="0"/>
              <a:t>• Even the current level of technology is already being deployed widely in practice, and many of these settings are often not particularly human-like (targeted advertising, news or product recommendation, web search, supply chain management, etc.)</a:t>
            </a:r>
          </a:p>
        </p:txBody>
      </p:sp>
      <p:sp>
        <p:nvSpPr>
          <p:cNvPr id="4" name="Slide Number Placeholder 3"/>
          <p:cNvSpPr>
            <a:spLocks noGrp="1"/>
          </p:cNvSpPr>
          <p:nvPr>
            <p:ph type="sldNum" sz="quarter" idx="5"/>
          </p:nvPr>
        </p:nvSpPr>
        <p:spPr/>
        <p:txBody>
          <a:bodyPr/>
          <a:lstStyle/>
          <a:p>
            <a:fld id="{BFF84924-AB83-4DF8-AEA4-A0EB45C854CC}" type="slidenum">
              <a:rPr lang="en-US" smtClean="0"/>
              <a:t>23</a:t>
            </a:fld>
            <a:endParaRPr lang="en-US"/>
          </a:p>
        </p:txBody>
      </p:sp>
    </p:spTree>
    <p:extLst>
      <p:ext uri="{BB962C8B-B14F-4D97-AF65-F5344CB8AC3E}">
        <p14:creationId xmlns:p14="http://schemas.microsoft.com/office/powerpoint/2010/main" val="24658622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techniques, used to recognize objects, can also be used to tackle social problems. Poverty is a huge problem, and even identifying the areas of need is difficult due to the difficulty in getting reliable survey data. Recent work has shown that one can take satellite images (which are readily available) and predict various poverty indicators</a:t>
            </a:r>
          </a:p>
        </p:txBody>
      </p:sp>
      <p:sp>
        <p:nvSpPr>
          <p:cNvPr id="4" name="Slide Number Placeholder 3"/>
          <p:cNvSpPr>
            <a:spLocks noGrp="1"/>
          </p:cNvSpPr>
          <p:nvPr>
            <p:ph type="sldNum" sz="quarter" idx="5"/>
          </p:nvPr>
        </p:nvSpPr>
        <p:spPr/>
        <p:txBody>
          <a:bodyPr/>
          <a:lstStyle/>
          <a:p>
            <a:fld id="{BFF84924-AB83-4DF8-AEA4-A0EB45C854CC}" type="slidenum">
              <a:rPr lang="en-US" smtClean="0"/>
              <a:t>24</a:t>
            </a:fld>
            <a:endParaRPr lang="en-US"/>
          </a:p>
        </p:txBody>
      </p:sp>
    </p:spTree>
    <p:extLst>
      <p:ext uri="{BB962C8B-B14F-4D97-AF65-F5344CB8AC3E}">
        <p14:creationId xmlns:p14="http://schemas.microsoft.com/office/powerpoint/2010/main" val="2198997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Machine learning can also be used to optimize the energy efficiency of datacenters which, given the hunger for compute these days, makes a big difference. Some recent work from DeepMind shows how to significantly reduce Google’s energy footprint by using machine learning to predict the power usage effectiveness from sensor measurements such as pump speeds, and use that to drive recommendations</a:t>
            </a:r>
          </a:p>
        </p:txBody>
      </p:sp>
      <p:sp>
        <p:nvSpPr>
          <p:cNvPr id="4" name="Slide Number Placeholder 3"/>
          <p:cNvSpPr>
            <a:spLocks noGrp="1"/>
          </p:cNvSpPr>
          <p:nvPr>
            <p:ph type="sldNum" sz="quarter" idx="5"/>
          </p:nvPr>
        </p:nvSpPr>
        <p:spPr/>
        <p:txBody>
          <a:bodyPr/>
          <a:lstStyle/>
          <a:p>
            <a:fld id="{BFF84924-AB83-4DF8-AEA4-A0EB45C854CC}" type="slidenum">
              <a:rPr lang="en-US" smtClean="0"/>
              <a:t>25</a:t>
            </a:fld>
            <a:endParaRPr lang="en-US"/>
          </a:p>
        </p:txBody>
      </p:sp>
    </p:spTree>
    <p:extLst>
      <p:ext uri="{BB962C8B-B14F-4D97-AF65-F5344CB8AC3E}">
        <p14:creationId xmlns:p14="http://schemas.microsoft.com/office/powerpoint/2010/main" val="1565643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applications such as self-driving cars and authentication have high-stakes, where errors could be much more damaging than getting the wrong movie recommendation. These applications present a set of security concerns.</a:t>
            </a:r>
          </a:p>
          <a:p>
            <a:r>
              <a:rPr lang="en-US" dirty="0"/>
              <a:t> • One can generate so-called adversarial examples, where by putting stickers on a stop sign, one can trick a computer vision system into mis-classifying it as a speed limit sign. You can also purchase special glasses that fool a system into thinking that you’re a celebrity</a:t>
            </a:r>
          </a:p>
          <a:p>
            <a:endParaRPr lang="en-US" dirty="0"/>
          </a:p>
        </p:txBody>
      </p:sp>
      <p:sp>
        <p:nvSpPr>
          <p:cNvPr id="4" name="Slide Number Placeholder 3"/>
          <p:cNvSpPr>
            <a:spLocks noGrp="1"/>
          </p:cNvSpPr>
          <p:nvPr>
            <p:ph type="sldNum" sz="quarter" idx="5"/>
          </p:nvPr>
        </p:nvSpPr>
        <p:spPr/>
        <p:txBody>
          <a:bodyPr/>
          <a:lstStyle/>
          <a:p>
            <a:fld id="{BFF84924-AB83-4DF8-AEA4-A0EB45C854CC}" type="slidenum">
              <a:rPr lang="en-US" smtClean="0"/>
              <a:t>26</a:t>
            </a:fld>
            <a:endParaRPr lang="en-US"/>
          </a:p>
        </p:txBody>
      </p:sp>
    </p:spTree>
    <p:extLst>
      <p:ext uri="{BB962C8B-B14F-4D97-AF65-F5344CB8AC3E}">
        <p14:creationId xmlns:p14="http://schemas.microsoft.com/office/powerpoint/2010/main" val="3042118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applications such as self-driving cars and authentication have high-stakes, where errors could be much more damaging than getting the wrong movie recommendation. These applications present a set of security concerns.</a:t>
            </a:r>
          </a:p>
          <a:p>
            <a:r>
              <a:rPr lang="en-US" dirty="0"/>
              <a:t> • One can generate so-called adversarial examples, where by putting stickers on a stop sign, one can trick a computer vision system into mis-classifying it as a speed limit sign. You can also purchase special glasses that fool a system into thinking that you’re a celebrity</a:t>
            </a:r>
          </a:p>
          <a:p>
            <a:endParaRPr lang="en-US" dirty="0"/>
          </a:p>
        </p:txBody>
      </p:sp>
      <p:sp>
        <p:nvSpPr>
          <p:cNvPr id="4" name="Slide Number Placeholder 3"/>
          <p:cNvSpPr>
            <a:spLocks noGrp="1"/>
          </p:cNvSpPr>
          <p:nvPr>
            <p:ph type="sldNum" sz="quarter" idx="5"/>
          </p:nvPr>
        </p:nvSpPr>
        <p:spPr/>
        <p:txBody>
          <a:bodyPr/>
          <a:lstStyle/>
          <a:p>
            <a:fld id="{BFF84924-AB83-4DF8-AEA4-A0EB45C854CC}" type="slidenum">
              <a:rPr lang="en-US" smtClean="0"/>
              <a:t>27</a:t>
            </a:fld>
            <a:endParaRPr lang="en-US"/>
          </a:p>
        </p:txBody>
      </p:sp>
    </p:spTree>
    <p:extLst>
      <p:ext uri="{BB962C8B-B14F-4D97-AF65-F5344CB8AC3E}">
        <p14:creationId xmlns:p14="http://schemas.microsoft.com/office/powerpoint/2010/main" val="1425220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more subtle case is the issue of bias. One might naively think that since machine learning algorithms are based on mathematical principles, they are somehow objective. However, machine learning predictions come from the training data, and the training data comes from society, so any biases in society are reflected in the data and propagated to predictions. The issue of bias is a real concern when machine learning is used to decide whether an individual should receive a loan or get a job. </a:t>
            </a:r>
          </a:p>
          <a:p>
            <a:r>
              <a:rPr lang="en-US" dirty="0"/>
              <a:t>• Unfortunately, the problem of fairness and bias is as much of a philosophical one as it is a technical one. There is no obvious ”right thing to do”, and it has even been shown mathematically that it is impossible for a classifier to satisfy three reasonable fairness criteria (Kleinberg et al., 2016</a:t>
            </a:r>
          </a:p>
        </p:txBody>
      </p:sp>
      <p:sp>
        <p:nvSpPr>
          <p:cNvPr id="4" name="Slide Number Placeholder 3"/>
          <p:cNvSpPr>
            <a:spLocks noGrp="1"/>
          </p:cNvSpPr>
          <p:nvPr>
            <p:ph type="sldNum" sz="quarter" idx="5"/>
          </p:nvPr>
        </p:nvSpPr>
        <p:spPr/>
        <p:txBody>
          <a:bodyPr/>
          <a:lstStyle/>
          <a:p>
            <a:fld id="{BFF84924-AB83-4DF8-AEA4-A0EB45C854CC}" type="slidenum">
              <a:rPr lang="en-US" smtClean="0"/>
              <a:t>29</a:t>
            </a:fld>
            <a:endParaRPr lang="en-US"/>
          </a:p>
        </p:txBody>
      </p:sp>
    </p:spTree>
    <p:extLst>
      <p:ext uri="{BB962C8B-B14F-4D97-AF65-F5344CB8AC3E}">
        <p14:creationId xmlns:p14="http://schemas.microsoft.com/office/powerpoint/2010/main" val="4060825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should we actually solve AI tasks? The real world is complicated. At the end of the day, we need to write some code (and possibly build some hardware, too). But there is a huge chasm.</a:t>
            </a:r>
          </a:p>
        </p:txBody>
      </p:sp>
      <p:sp>
        <p:nvSpPr>
          <p:cNvPr id="4" name="Slide Number Placeholder 3"/>
          <p:cNvSpPr>
            <a:spLocks noGrp="1"/>
          </p:cNvSpPr>
          <p:nvPr>
            <p:ph type="sldNum" sz="quarter" idx="5"/>
          </p:nvPr>
        </p:nvSpPr>
        <p:spPr/>
        <p:txBody>
          <a:bodyPr/>
          <a:lstStyle/>
          <a:p>
            <a:fld id="{BFF84924-AB83-4DF8-AEA4-A0EB45C854CC}" type="slidenum">
              <a:rPr lang="en-US" smtClean="0"/>
              <a:t>32</a:t>
            </a:fld>
            <a:endParaRPr lang="en-US"/>
          </a:p>
        </p:txBody>
      </p:sp>
    </p:spTree>
    <p:extLst>
      <p:ext uri="{BB962C8B-B14F-4D97-AF65-F5344CB8AC3E}">
        <p14:creationId xmlns:p14="http://schemas.microsoft.com/office/powerpoint/2010/main" val="1989631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this class, we will adopt the modeling-inference-learning paradigm to help us navigate the solution space. In reality the lines are blurry, but this paradigm serves as an ideal and a useful guiding principle.</a:t>
            </a:r>
          </a:p>
        </p:txBody>
      </p:sp>
      <p:sp>
        <p:nvSpPr>
          <p:cNvPr id="4" name="Slide Number Placeholder 3"/>
          <p:cNvSpPr>
            <a:spLocks noGrp="1"/>
          </p:cNvSpPr>
          <p:nvPr>
            <p:ph type="sldNum" sz="quarter" idx="5"/>
          </p:nvPr>
        </p:nvSpPr>
        <p:spPr/>
        <p:txBody>
          <a:bodyPr/>
          <a:lstStyle/>
          <a:p>
            <a:fld id="{BFF84924-AB83-4DF8-AEA4-A0EB45C854CC}" type="slidenum">
              <a:rPr lang="en-US" smtClean="0"/>
              <a:t>33</a:t>
            </a:fld>
            <a:endParaRPr lang="en-US"/>
          </a:p>
        </p:txBody>
      </p:sp>
    </p:spTree>
    <p:extLst>
      <p:ext uri="{BB962C8B-B14F-4D97-AF65-F5344CB8AC3E}">
        <p14:creationId xmlns:p14="http://schemas.microsoft.com/office/powerpoint/2010/main" val="2692796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first pillar is modeling. Modeling takes messy real world problems and packages them into neat formal mathematical objects called models, which can be subject to rigorous analysis and can be operated on by computers. However, modeling is lossy: not all of the richness of the real world can be captured, and therefore there is an art of modeling: what does one keep versus ignore? (An exception to this are games such as Chess, Go or </a:t>
            </a:r>
            <a:r>
              <a:rPr lang="en-US" dirty="0" err="1"/>
              <a:t>Sodoku</a:t>
            </a:r>
            <a:r>
              <a:rPr lang="en-US" dirty="0"/>
              <a:t>, where the real world is identical to the model.) • As an example, suppose we’re trying to have an AI that can navigate through a busy city. We might formulate this as a graph where nodes represent points in the city, edges represent the roads, and the cost of an edge represents the traffic on that road.</a:t>
            </a:r>
          </a:p>
        </p:txBody>
      </p:sp>
      <p:sp>
        <p:nvSpPr>
          <p:cNvPr id="4" name="Slide Number Placeholder 3"/>
          <p:cNvSpPr>
            <a:spLocks noGrp="1"/>
          </p:cNvSpPr>
          <p:nvPr>
            <p:ph type="sldNum" sz="quarter" idx="5"/>
          </p:nvPr>
        </p:nvSpPr>
        <p:spPr/>
        <p:txBody>
          <a:bodyPr/>
          <a:lstStyle/>
          <a:p>
            <a:fld id="{BFF84924-AB83-4DF8-AEA4-A0EB45C854CC}" type="slidenum">
              <a:rPr lang="en-US" smtClean="0"/>
              <a:t>34</a:t>
            </a:fld>
            <a:endParaRPr lang="en-US"/>
          </a:p>
        </p:txBody>
      </p:sp>
    </p:spTree>
    <p:extLst>
      <p:ext uri="{BB962C8B-B14F-4D97-AF65-F5344CB8AC3E}">
        <p14:creationId xmlns:p14="http://schemas.microsoft.com/office/powerpoint/2010/main" val="9384082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pillar is inference. Given a model, the task of inference is to answer questions with respect to the model. For example, given the model of the city, one could ask questions such as: what is the shortest path? what is the cheapest path? • The focus of inference is usually on efficient algorithms that can answer these questions. For some models, computational complexity can be a concern (games such as Go), and usually approximations are needed</a:t>
            </a:r>
          </a:p>
        </p:txBody>
      </p:sp>
      <p:sp>
        <p:nvSpPr>
          <p:cNvPr id="4" name="Slide Number Placeholder 3"/>
          <p:cNvSpPr>
            <a:spLocks noGrp="1"/>
          </p:cNvSpPr>
          <p:nvPr>
            <p:ph type="sldNum" sz="quarter" idx="5"/>
          </p:nvPr>
        </p:nvSpPr>
        <p:spPr/>
        <p:txBody>
          <a:bodyPr/>
          <a:lstStyle/>
          <a:p>
            <a:fld id="{BFF84924-AB83-4DF8-AEA4-A0EB45C854CC}" type="slidenum">
              <a:rPr lang="en-US" smtClean="0"/>
              <a:t>35</a:t>
            </a:fld>
            <a:endParaRPr lang="en-US"/>
          </a:p>
        </p:txBody>
      </p:sp>
    </p:spTree>
    <p:extLst>
      <p:ext uri="{BB962C8B-B14F-4D97-AF65-F5344CB8AC3E}">
        <p14:creationId xmlns:p14="http://schemas.microsoft.com/office/powerpoint/2010/main" val="625948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But where does the model come from? Remember that the real world is rich, so if the model is to be faithful, the model has to be rich as well. But we can’t possibly write down such a rich model manually. • The idea behind (machine) learning is to instead get it from data. Instead of constructing a model, one constructs a skeleton of a model (more precisely, a model family), which is a model without parameters. And then if we have the right type of data, we can run a machine learning algorithm to tune the parameters of the model. • Note that learning here is not tied to a particular approach (e.g., neural networks), but more of a philosophy. This general paradigm will allow us to bridge the gap between logic-based AI and statistical AI.</a:t>
            </a:r>
          </a:p>
        </p:txBody>
      </p:sp>
      <p:sp>
        <p:nvSpPr>
          <p:cNvPr id="4" name="Slide Number Placeholder 3"/>
          <p:cNvSpPr>
            <a:spLocks noGrp="1"/>
          </p:cNvSpPr>
          <p:nvPr>
            <p:ph type="sldNum" sz="quarter" idx="5"/>
          </p:nvPr>
        </p:nvSpPr>
        <p:spPr/>
        <p:txBody>
          <a:bodyPr/>
          <a:lstStyle/>
          <a:p>
            <a:fld id="{BFF84924-AB83-4DF8-AEA4-A0EB45C854CC}" type="slidenum">
              <a:rPr lang="en-US" smtClean="0"/>
              <a:t>36</a:t>
            </a:fld>
            <a:endParaRPr lang="en-US"/>
          </a:p>
        </p:txBody>
      </p:sp>
    </p:spTree>
    <p:extLst>
      <p:ext uri="{BB962C8B-B14F-4D97-AF65-F5344CB8AC3E}">
        <p14:creationId xmlns:p14="http://schemas.microsoft.com/office/powerpoint/2010/main" val="11940469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embark on our tour of the topics in this course. The topics correspond to types of models that we can use to represent real-world tasks. The topics will in a sense advance from low-level intelligence to high-level intelligence, evolving from models that simply make a reflex decision to models that are based on logical </a:t>
            </a:r>
            <a:r>
              <a:rPr lang="en-US" dirty="0" err="1"/>
              <a:t>reasonin</a:t>
            </a:r>
            <a:endParaRPr lang="en-US" dirty="0"/>
          </a:p>
        </p:txBody>
      </p:sp>
      <p:sp>
        <p:nvSpPr>
          <p:cNvPr id="4" name="Slide Number Placeholder 3"/>
          <p:cNvSpPr>
            <a:spLocks noGrp="1"/>
          </p:cNvSpPr>
          <p:nvPr>
            <p:ph type="sldNum" sz="quarter" idx="5"/>
          </p:nvPr>
        </p:nvSpPr>
        <p:spPr/>
        <p:txBody>
          <a:bodyPr/>
          <a:lstStyle/>
          <a:p>
            <a:fld id="{BFF84924-AB83-4DF8-AEA4-A0EB45C854CC}" type="slidenum">
              <a:rPr lang="en-US" smtClean="0"/>
              <a:t>37</a:t>
            </a:fld>
            <a:endParaRPr lang="en-US"/>
          </a:p>
        </p:txBody>
      </p:sp>
    </p:spTree>
    <p:extLst>
      <p:ext uri="{BB962C8B-B14F-4D97-AF65-F5344CB8AC3E}">
        <p14:creationId xmlns:p14="http://schemas.microsoft.com/office/powerpoint/2010/main" val="138758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all of these models is machine learning, which has been arguably the most crucial ingredient powering recent successes in AI. From a systems engineering perspective, machine learning allows us to shift the information complexity of the model from code to data, which is much easier to obtain (either naturally occurring or via crowdsourcing). • The main conceptually magical part of learning is that if done properly, the trained model will be able to produce good predictions beyond the set of training examples. This leap of faith is called generalization, and is, explicitly or implicitly, at the heart of any machine learning algorithm. This can even be formalized using tools from probability and statistical learning theory</a:t>
            </a:r>
          </a:p>
        </p:txBody>
      </p:sp>
      <p:sp>
        <p:nvSpPr>
          <p:cNvPr id="4" name="Slide Number Placeholder 3"/>
          <p:cNvSpPr>
            <a:spLocks noGrp="1"/>
          </p:cNvSpPr>
          <p:nvPr>
            <p:ph type="sldNum" sz="quarter" idx="5"/>
          </p:nvPr>
        </p:nvSpPr>
        <p:spPr/>
        <p:txBody>
          <a:bodyPr/>
          <a:lstStyle/>
          <a:p>
            <a:fld id="{BFF84924-AB83-4DF8-AEA4-A0EB45C854CC}" type="slidenum">
              <a:rPr lang="en-US" smtClean="0"/>
              <a:t>38</a:t>
            </a:fld>
            <a:endParaRPr lang="en-US"/>
          </a:p>
        </p:txBody>
      </p:sp>
    </p:spTree>
    <p:extLst>
      <p:ext uri="{BB962C8B-B14F-4D97-AF65-F5344CB8AC3E}">
        <p14:creationId xmlns:p14="http://schemas.microsoft.com/office/powerpoint/2010/main" val="25572426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4924-AB83-4DF8-AEA4-A0EB45C854CC}" type="slidenum">
              <a:rPr lang="en-US" smtClean="0"/>
              <a:t>39</a:t>
            </a:fld>
            <a:endParaRPr lang="en-US"/>
          </a:p>
        </p:txBody>
      </p:sp>
    </p:spTree>
    <p:extLst>
      <p:ext uri="{BB962C8B-B14F-4D97-AF65-F5344CB8AC3E}">
        <p14:creationId xmlns:p14="http://schemas.microsoft.com/office/powerpoint/2010/main" val="19387384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reflex-based model simply performs a fixed sequence of computations on a given input. Examples include most models found in machine learning, from simple linear classifiers to deep neural networks. The main characteristic of reflex-based models is that their computations are feed-forward; one doesn’t backtrack and consider alternative computations. Inference is trivial in these models because it is just running the fixed computations, which makes these models appealing.</a:t>
            </a:r>
          </a:p>
        </p:txBody>
      </p:sp>
      <p:sp>
        <p:nvSpPr>
          <p:cNvPr id="4" name="Slide Number Placeholder 3"/>
          <p:cNvSpPr>
            <a:spLocks noGrp="1"/>
          </p:cNvSpPr>
          <p:nvPr>
            <p:ph type="sldNum" sz="quarter" idx="5"/>
          </p:nvPr>
        </p:nvSpPr>
        <p:spPr/>
        <p:txBody>
          <a:bodyPr/>
          <a:lstStyle/>
          <a:p>
            <a:fld id="{BFF84924-AB83-4DF8-AEA4-A0EB45C854CC}" type="slidenum">
              <a:rPr lang="en-US" smtClean="0"/>
              <a:t>40</a:t>
            </a:fld>
            <a:endParaRPr lang="en-US"/>
          </a:p>
        </p:txBody>
      </p:sp>
    </p:spTree>
    <p:extLst>
      <p:ext uri="{BB962C8B-B14F-4D97-AF65-F5344CB8AC3E}">
        <p14:creationId xmlns:p14="http://schemas.microsoft.com/office/powerpoint/2010/main" val="28620532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Reflex-based models are too simple for tasks that require more forethought (e.g., in playing chess or planning a big trip). State-based models overcome this limitation. • The key idea is, at a high-level, to model the state of a world and transitions between states which are triggered by actions. Concretely, one can think of states as nodes in a graph and transitions as edges. This reduction is useful because we understand graphs well and have a lot of efficient algorithms for operating on graphs.</a:t>
            </a:r>
          </a:p>
        </p:txBody>
      </p:sp>
      <p:sp>
        <p:nvSpPr>
          <p:cNvPr id="4" name="Slide Number Placeholder 3"/>
          <p:cNvSpPr>
            <a:spLocks noGrp="1"/>
          </p:cNvSpPr>
          <p:nvPr>
            <p:ph type="sldNum" sz="quarter" idx="5"/>
          </p:nvPr>
        </p:nvSpPr>
        <p:spPr/>
        <p:txBody>
          <a:bodyPr/>
          <a:lstStyle/>
          <a:p>
            <a:fld id="{BFF84924-AB83-4DF8-AEA4-A0EB45C854CC}" type="slidenum">
              <a:rPr lang="en-US" smtClean="0"/>
              <a:t>43</a:t>
            </a:fld>
            <a:endParaRPr lang="en-US"/>
          </a:p>
        </p:txBody>
      </p:sp>
    </p:spTree>
    <p:extLst>
      <p:ext uri="{BB962C8B-B14F-4D97-AF65-F5344CB8AC3E}">
        <p14:creationId xmlns:p14="http://schemas.microsoft.com/office/powerpoint/2010/main" val="2756802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Search problems are adequate models when you are operating in an environment that has no uncertainty. However, in many realistic settings, there are other forces at play. • Markov decision processes handle tasks with an element of chance (e.g., Blackjack), where the distribution of randomness is known (reinforcement learning can be employed if it is not). • Adversarial games, as the name suggests, handle tasks where there is an opponent who is working against you (e.g., chess).</a:t>
            </a:r>
          </a:p>
        </p:txBody>
      </p:sp>
      <p:sp>
        <p:nvSpPr>
          <p:cNvPr id="4" name="Slide Number Placeholder 3"/>
          <p:cNvSpPr>
            <a:spLocks noGrp="1"/>
          </p:cNvSpPr>
          <p:nvPr>
            <p:ph type="sldNum" sz="quarter" idx="5"/>
          </p:nvPr>
        </p:nvSpPr>
        <p:spPr/>
        <p:txBody>
          <a:bodyPr/>
          <a:lstStyle/>
          <a:p>
            <a:fld id="{BFF84924-AB83-4DF8-AEA4-A0EB45C854CC}" type="slidenum">
              <a:rPr lang="en-US" smtClean="0"/>
              <a:t>44</a:t>
            </a:fld>
            <a:endParaRPr lang="en-US"/>
          </a:p>
        </p:txBody>
      </p:sp>
    </p:spTree>
    <p:extLst>
      <p:ext uri="{BB962C8B-B14F-4D97-AF65-F5344CB8AC3E}">
        <p14:creationId xmlns:p14="http://schemas.microsoft.com/office/powerpoint/2010/main" val="9098644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state-based models, solutions are procedural: they specify step by step instructions on how to go from A to B. In many applications, the order in which things are done isn’t important.</a:t>
            </a:r>
          </a:p>
        </p:txBody>
      </p:sp>
      <p:sp>
        <p:nvSpPr>
          <p:cNvPr id="4" name="Slide Number Placeholder 3"/>
          <p:cNvSpPr>
            <a:spLocks noGrp="1"/>
          </p:cNvSpPr>
          <p:nvPr>
            <p:ph type="sldNum" sz="quarter" idx="5"/>
          </p:nvPr>
        </p:nvSpPr>
        <p:spPr/>
        <p:txBody>
          <a:bodyPr/>
          <a:lstStyle/>
          <a:p>
            <a:fld id="{BFF84924-AB83-4DF8-AEA4-A0EB45C854CC}" type="slidenum">
              <a:rPr lang="en-US" smtClean="0"/>
              <a:t>47</a:t>
            </a:fld>
            <a:endParaRPr lang="en-US"/>
          </a:p>
        </p:txBody>
      </p:sp>
    </p:spTree>
    <p:extLst>
      <p:ext uri="{BB962C8B-B14F-4D97-AF65-F5344CB8AC3E}">
        <p14:creationId xmlns:p14="http://schemas.microsoft.com/office/powerpoint/2010/main" val="6728432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 satisfaction problems are variable-based models where we only have hard constraints. For example, in scheduling, we can’t have two people in the same place at the same time. • Bayesian networks are variable-based models where variables are random variables which are dependent on each other. For example, the true location of an airplane </a:t>
            </a:r>
            <a:r>
              <a:rPr lang="en-US" dirty="0" err="1"/>
              <a:t>Ht</a:t>
            </a:r>
            <a:r>
              <a:rPr lang="en-US" dirty="0"/>
              <a:t> and its radar reading Et are related, as are the location </a:t>
            </a:r>
            <a:r>
              <a:rPr lang="en-US" dirty="0" err="1"/>
              <a:t>Ht</a:t>
            </a:r>
            <a:r>
              <a:rPr lang="en-US" dirty="0"/>
              <a:t> and the location at the last time step Ht−1. The exact dependency structure is given by the graph structure and it formally defines a joint probability distribution over all of the variables. This topic is studied thoroughly in probabilistic graphical models</a:t>
            </a:r>
          </a:p>
        </p:txBody>
      </p:sp>
      <p:sp>
        <p:nvSpPr>
          <p:cNvPr id="4" name="Slide Number Placeholder 3"/>
          <p:cNvSpPr>
            <a:spLocks noGrp="1"/>
          </p:cNvSpPr>
          <p:nvPr>
            <p:ph type="sldNum" sz="quarter" idx="5"/>
          </p:nvPr>
        </p:nvSpPr>
        <p:spPr/>
        <p:txBody>
          <a:bodyPr/>
          <a:lstStyle/>
          <a:p>
            <a:fld id="{BFF84924-AB83-4DF8-AEA4-A0EB45C854CC}" type="slidenum">
              <a:rPr lang="en-US" smtClean="0"/>
              <a:t>48</a:t>
            </a:fld>
            <a:endParaRPr lang="en-US"/>
          </a:p>
        </p:txBody>
      </p:sp>
    </p:spTree>
    <p:extLst>
      <p:ext uri="{BB962C8B-B14F-4D97-AF65-F5344CB8AC3E}">
        <p14:creationId xmlns:p14="http://schemas.microsoft.com/office/powerpoint/2010/main" val="2878301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last stop on the tour is logic. Even more so than variable-based models, logic provides a compact language for modeling which gives us more expressivity. </a:t>
            </a:r>
          </a:p>
          <a:p>
            <a:r>
              <a:rPr lang="en-US" dirty="0"/>
              <a:t>• It is interesting that historically, logic was one of the first things that AI researchers started with in the 1950s. While logical approaches were in a way quite sophisticated, they did not work well on complex real-world tasks with noise and uncertainty. On the other hand, methods based on probability and machine learning naturally handle noise and uncertainty, which is why they presently dominate the AI landscape. However, they are yet to be applied successfully to tasks that require really sophisticated reasoning. </a:t>
            </a:r>
          </a:p>
          <a:p>
            <a:r>
              <a:rPr lang="en-US" dirty="0"/>
              <a:t>• In this course, we will appreciate the two as not contradictory, but simply tackling different aspects of AI — in fact, in our course plan, logic is a class of models which can be supported by machine learning. An active area of research is to combine the richness of logic with the robustness and agility of machine learning.</a:t>
            </a:r>
          </a:p>
          <a:p>
            <a:endParaRPr lang="en-US" dirty="0"/>
          </a:p>
        </p:txBody>
      </p:sp>
      <p:sp>
        <p:nvSpPr>
          <p:cNvPr id="4" name="Slide Number Placeholder 3"/>
          <p:cNvSpPr>
            <a:spLocks noGrp="1"/>
          </p:cNvSpPr>
          <p:nvPr>
            <p:ph type="sldNum" sz="quarter" idx="5"/>
          </p:nvPr>
        </p:nvSpPr>
        <p:spPr/>
        <p:txBody>
          <a:bodyPr/>
          <a:lstStyle/>
          <a:p>
            <a:fld id="{BFF84924-AB83-4DF8-AEA4-A0EB45C854CC}" type="slidenum">
              <a:rPr lang="en-US" smtClean="0"/>
              <a:t>49</a:t>
            </a:fld>
            <a:endParaRPr lang="en-US"/>
          </a:p>
        </p:txBody>
      </p:sp>
    </p:spTree>
    <p:extLst>
      <p:ext uri="{BB962C8B-B14F-4D97-AF65-F5344CB8AC3E}">
        <p14:creationId xmlns:p14="http://schemas.microsoft.com/office/powerpoint/2010/main" val="25728389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motivation for logic is a virtual assistant. At an abstract level, one fundamental thing a good personal assistant should be able to do is to take in information from people and be able to answer questions that require drawing inferences from these facts. </a:t>
            </a:r>
          </a:p>
          <a:p>
            <a:r>
              <a:rPr lang="en-US" dirty="0"/>
              <a:t>• In some sense, telling the system information is like machine learning, but it feels like a very different form of learning than seeing 10M images and their labels or 10M sentences and their translations. The type of information we get here is both more heterogenous, more abstract, and the expectation is that we process it more deeply (we don’t want to tell our personal assistant 100 times that we prefer morning meetings). </a:t>
            </a:r>
          </a:p>
          <a:p>
            <a:r>
              <a:rPr lang="en-US" dirty="0"/>
              <a:t>• And how do we interact with our personal assistants? Let’s use natural language, the very tool that was built for communication!</a:t>
            </a:r>
          </a:p>
        </p:txBody>
      </p:sp>
      <p:sp>
        <p:nvSpPr>
          <p:cNvPr id="4" name="Slide Number Placeholder 3"/>
          <p:cNvSpPr>
            <a:spLocks noGrp="1"/>
          </p:cNvSpPr>
          <p:nvPr>
            <p:ph type="sldNum" sz="quarter" idx="5"/>
          </p:nvPr>
        </p:nvSpPr>
        <p:spPr/>
        <p:txBody>
          <a:bodyPr/>
          <a:lstStyle/>
          <a:p>
            <a:fld id="{BFF84924-AB83-4DF8-AEA4-A0EB45C854CC}" type="slidenum">
              <a:rPr lang="en-US" smtClean="0"/>
              <a:t>50</a:t>
            </a:fld>
            <a:endParaRPr lang="en-US"/>
          </a:p>
        </p:txBody>
      </p:sp>
    </p:spTree>
    <p:extLst>
      <p:ext uri="{BB962C8B-B14F-4D97-AF65-F5344CB8AC3E}">
        <p14:creationId xmlns:p14="http://schemas.microsoft.com/office/powerpoint/2010/main" val="37911841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are now done with the high-level motivation for the class. Let us now dive into some technical details. Let us focus on the inference and the learning aspect of the modeling-inference-learning paradigm. </a:t>
            </a:r>
          </a:p>
          <a:p>
            <a:endParaRPr lang="en-US" dirty="0"/>
          </a:p>
        </p:txBody>
      </p:sp>
      <p:sp>
        <p:nvSpPr>
          <p:cNvPr id="4" name="Slide Number Placeholder 3"/>
          <p:cNvSpPr>
            <a:spLocks noGrp="1"/>
          </p:cNvSpPr>
          <p:nvPr>
            <p:ph type="sldNum" sz="quarter" idx="5"/>
          </p:nvPr>
        </p:nvSpPr>
        <p:spPr/>
        <p:txBody>
          <a:bodyPr/>
          <a:lstStyle/>
          <a:p>
            <a:fld id="{BFF84924-AB83-4DF8-AEA4-A0EB45C854CC}" type="slidenum">
              <a:rPr lang="en-US" smtClean="0"/>
              <a:t>58</a:t>
            </a:fld>
            <a:endParaRPr lang="en-US"/>
          </a:p>
        </p:txBody>
      </p:sp>
    </p:spTree>
    <p:extLst>
      <p:ext uri="{BB962C8B-B14F-4D97-AF65-F5344CB8AC3E}">
        <p14:creationId xmlns:p14="http://schemas.microsoft.com/office/powerpoint/2010/main" val="90084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CB7FF-9F75-4AD7-77B1-8739255951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62C631-671D-8D1E-EECA-7C7967AAA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43C905-C307-DCC7-1AD0-BE25FF18E6E0}"/>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5" name="Footer Placeholder 4">
            <a:extLst>
              <a:ext uri="{FF2B5EF4-FFF2-40B4-BE49-F238E27FC236}">
                <a16:creationId xmlns:a16="http://schemas.microsoft.com/office/drawing/2014/main" id="{3D37B123-75D2-2B74-EFE3-2B34E7A68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ACEFF8-9473-1E3F-6A2A-A2D5A06F21A0}"/>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3442526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0F999-FE76-4EFF-5BE5-BCFE992C37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C2BA69-3408-A161-5D4F-E83D37EBA7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E1E1D-0DAD-4CCE-C283-DEAE90CC5E45}"/>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5" name="Footer Placeholder 4">
            <a:extLst>
              <a:ext uri="{FF2B5EF4-FFF2-40B4-BE49-F238E27FC236}">
                <a16:creationId xmlns:a16="http://schemas.microsoft.com/office/drawing/2014/main" id="{DC63ACB6-9A7F-3B84-E12E-7D27F08992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46602-2308-199C-564F-DA8C202EB2C0}"/>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193611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8F7F-61D9-C765-9DE6-34B77908F5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7BF1E5-D56D-DF13-EDA8-7B04CE618B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8FF3D2-4AE6-1F48-79BF-9363C050FCC9}"/>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5" name="Footer Placeholder 4">
            <a:extLst>
              <a:ext uri="{FF2B5EF4-FFF2-40B4-BE49-F238E27FC236}">
                <a16:creationId xmlns:a16="http://schemas.microsoft.com/office/drawing/2014/main" id="{A2E0BFB6-B16C-B828-E2B1-0CCC9092AD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28C2CF-B06F-EB6A-A8FF-C30DDA95F1C3}"/>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2603283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48FBF-A5D0-18E7-9804-4E0D44FCE9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2C57B0-D3EA-56A7-2093-FE2BAADEA4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708B8B-7100-FD05-B24A-791F0463A0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CE2341-CA27-9121-E298-144E0CC130D6}"/>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6" name="Footer Placeholder 5">
            <a:extLst>
              <a:ext uri="{FF2B5EF4-FFF2-40B4-BE49-F238E27FC236}">
                <a16:creationId xmlns:a16="http://schemas.microsoft.com/office/drawing/2014/main" id="{8C61A619-880C-0BC0-2162-ADCBFE634A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56174-E180-05F5-E959-B184F663A646}"/>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1896144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A447-234B-5787-22C5-530D0F92E7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887083-EC44-1060-949F-55E6DF039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294F89-9A1D-4E61-AB87-C95D3A1470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0C845A-18A6-1129-4D62-581775466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44636B-12AA-4BEC-7E53-959A01AA80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02B535-797B-DEA3-5BB9-96BE1C80A10D}"/>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8" name="Footer Placeholder 7">
            <a:extLst>
              <a:ext uri="{FF2B5EF4-FFF2-40B4-BE49-F238E27FC236}">
                <a16:creationId xmlns:a16="http://schemas.microsoft.com/office/drawing/2014/main" id="{E2F5F43F-CB20-C4F5-77F1-1629556BA6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FB18FB-FB72-7B4D-EB33-D1D0EAB63A02}"/>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2371529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C3F34-6E67-755E-2B3F-1DD2171BBA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88B828-3201-66A5-43EE-30CC78B00307}"/>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4" name="Footer Placeholder 3">
            <a:extLst>
              <a:ext uri="{FF2B5EF4-FFF2-40B4-BE49-F238E27FC236}">
                <a16:creationId xmlns:a16="http://schemas.microsoft.com/office/drawing/2014/main" id="{EBD43D55-9089-56B0-059E-1B58236977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8CA85B-AFEE-4CB1-523C-59F0E7992E1C}"/>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4181529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906AB-B20D-0238-FC89-B1225663F8AE}"/>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3" name="Footer Placeholder 2">
            <a:extLst>
              <a:ext uri="{FF2B5EF4-FFF2-40B4-BE49-F238E27FC236}">
                <a16:creationId xmlns:a16="http://schemas.microsoft.com/office/drawing/2014/main" id="{43DF75A4-76FC-3185-3D06-71AD75FD80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DBDA44-FC6E-DA2D-B403-795766A370EE}"/>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566290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18DAE-17D9-B232-398D-B745F94E7E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A78070-11D2-0D10-A889-71BD17D024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8D00EF-E507-46DA-CBE9-E4521F1558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882FCB-F52B-ED3D-AEA0-9F1770F784D8}"/>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6" name="Footer Placeholder 5">
            <a:extLst>
              <a:ext uri="{FF2B5EF4-FFF2-40B4-BE49-F238E27FC236}">
                <a16:creationId xmlns:a16="http://schemas.microsoft.com/office/drawing/2014/main" id="{73105B77-71C1-F3A6-8875-EF6ED6C43B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662D91-1B80-D161-AE28-DEED6361390D}"/>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1126285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16E1F-79BB-935E-11EF-4E067E220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B489C3-3F7A-0DF8-10D4-B6FEA1A3CF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0CDC27-85D2-90E2-B20E-164F0CD37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701854-1087-BE74-C128-A5AE7DFFD5B0}"/>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6" name="Footer Placeholder 5">
            <a:extLst>
              <a:ext uri="{FF2B5EF4-FFF2-40B4-BE49-F238E27FC236}">
                <a16:creationId xmlns:a16="http://schemas.microsoft.com/office/drawing/2014/main" id="{FFF8D50C-4854-B69E-7CF8-46E7E1D22D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0EA71-AE63-8FDD-D0B8-6228C4B6056E}"/>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2217287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B838-B441-0FC3-9E00-6457987E72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3D0FFF-EF53-CD71-AED3-12D7B93FD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1C769A-4573-9AAC-576B-30A2BB0970AD}"/>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5" name="Footer Placeholder 4">
            <a:extLst>
              <a:ext uri="{FF2B5EF4-FFF2-40B4-BE49-F238E27FC236}">
                <a16:creationId xmlns:a16="http://schemas.microsoft.com/office/drawing/2014/main" id="{F1177A1F-2302-269E-630A-60140B182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A6D807-7E85-16F0-9337-D9E0E0BEF5E7}"/>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1644070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E78D0F-BEAF-BD92-DA47-DE421A810B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ABB708-819F-1F60-78A3-7ADFC8970A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2941A7-42FC-EC38-2119-B4F559398F24}"/>
              </a:ext>
            </a:extLst>
          </p:cNvPr>
          <p:cNvSpPr>
            <a:spLocks noGrp="1"/>
          </p:cNvSpPr>
          <p:nvPr>
            <p:ph type="dt" sz="half" idx="10"/>
          </p:nvPr>
        </p:nvSpPr>
        <p:spPr/>
        <p:txBody>
          <a:bodyPr/>
          <a:lstStyle/>
          <a:p>
            <a:fld id="{282BA658-2D90-489B-9C4F-FC1C3B41A87E}" type="datetimeFigureOut">
              <a:rPr lang="en-US" smtClean="0"/>
              <a:t>10/2/2023</a:t>
            </a:fld>
            <a:endParaRPr lang="en-US"/>
          </a:p>
        </p:txBody>
      </p:sp>
      <p:sp>
        <p:nvSpPr>
          <p:cNvPr id="5" name="Footer Placeholder 4">
            <a:extLst>
              <a:ext uri="{FF2B5EF4-FFF2-40B4-BE49-F238E27FC236}">
                <a16:creationId xmlns:a16="http://schemas.microsoft.com/office/drawing/2014/main" id="{7D01274F-AE82-4C1C-ED84-67C684CFD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C22959-00D5-D6E1-9446-8217FF292FCC}"/>
              </a:ext>
            </a:extLst>
          </p:cNvPr>
          <p:cNvSpPr>
            <a:spLocks noGrp="1"/>
          </p:cNvSpPr>
          <p:nvPr>
            <p:ph type="sldNum" sz="quarter" idx="12"/>
          </p:nvPr>
        </p:nvSpPr>
        <p:spPr/>
        <p:txBody>
          <a:bodyPr/>
          <a:lstStyle/>
          <a:p>
            <a:fld id="{93080DB7-A7B8-4AA4-8C3B-37F499804F69}" type="slidenum">
              <a:rPr lang="en-US" smtClean="0"/>
              <a:t>‹#›</a:t>
            </a:fld>
            <a:endParaRPr lang="en-US"/>
          </a:p>
        </p:txBody>
      </p:sp>
    </p:spTree>
    <p:extLst>
      <p:ext uri="{BB962C8B-B14F-4D97-AF65-F5344CB8AC3E}">
        <p14:creationId xmlns:p14="http://schemas.microsoft.com/office/powerpoint/2010/main" val="117298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4843E1-5045-CDB3-B104-8C9D1CC879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08EBE4-7C04-B6DE-07D1-D7F1669F5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E2B235-6382-BFE0-E90D-DCC65D8F9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BA658-2D90-489B-9C4F-FC1C3B41A87E}" type="datetimeFigureOut">
              <a:rPr lang="en-US" smtClean="0"/>
              <a:t>10/2/2023</a:t>
            </a:fld>
            <a:endParaRPr lang="en-US"/>
          </a:p>
        </p:txBody>
      </p:sp>
      <p:sp>
        <p:nvSpPr>
          <p:cNvPr id="5" name="Footer Placeholder 4">
            <a:extLst>
              <a:ext uri="{FF2B5EF4-FFF2-40B4-BE49-F238E27FC236}">
                <a16:creationId xmlns:a16="http://schemas.microsoft.com/office/drawing/2014/main" id="{A95C2699-ACB8-615D-836D-473DE384F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CFCBB3-574B-F3EA-2D97-BBF087BEA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80DB7-A7B8-4AA4-8C3B-37F499804F69}" type="slidenum">
              <a:rPr lang="en-US" smtClean="0"/>
              <a:t>‹#›</a:t>
            </a:fld>
            <a:endParaRPr lang="en-US"/>
          </a:p>
        </p:txBody>
      </p:sp>
    </p:spTree>
    <p:extLst>
      <p:ext uri="{BB962C8B-B14F-4D97-AF65-F5344CB8AC3E}">
        <p14:creationId xmlns:p14="http://schemas.microsoft.com/office/powerpoint/2010/main" val="3731392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futuresoft.yolasite.com/resources/Artificial%20Intelligence%20Illuminated.pdf" TargetMode="Externa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53.xml.rels><?xml version="1.0" encoding="UTF-8" standalone="yes"?>
<Relationships xmlns="http://schemas.openxmlformats.org/package/2006/relationships"><Relationship Id="rId3" Type="http://schemas.openxmlformats.org/officeDocument/2006/relationships/hyperlink" Target="https://web.stanford.edu/~hastie/ElemStatLearn/" TargetMode="External"/><Relationship Id="rId2" Type="http://schemas.openxmlformats.org/officeDocument/2006/relationships/hyperlink" Target="https://mitpress.mit.edu/books/reinforcement-learning" TargetMode="External"/><Relationship Id="rId1" Type="http://schemas.openxmlformats.org/officeDocument/2006/relationships/slideLayout" Target="../slideLayouts/slideLayout2.xml"/><Relationship Id="rId4" Type="http://schemas.openxmlformats.org/officeDocument/2006/relationships/hyperlink" Target="http://www.bracil.net/edward/fcs.htm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DCF49-F01D-3406-8EFE-FF333AF45B8D}"/>
              </a:ext>
            </a:extLst>
          </p:cNvPr>
          <p:cNvSpPr>
            <a:spLocks noGrp="1"/>
          </p:cNvSpPr>
          <p:nvPr>
            <p:ph type="ctrTitle"/>
          </p:nvPr>
        </p:nvSpPr>
        <p:spPr>
          <a:xfrm>
            <a:off x="1524000" y="2329727"/>
            <a:ext cx="9144000" cy="2387600"/>
          </a:xfrm>
        </p:spPr>
        <p:txBody>
          <a:bodyPr>
            <a:normAutofit fontScale="90000"/>
          </a:bodyPr>
          <a:lstStyle/>
          <a:p>
            <a:r>
              <a:rPr lang="en-US" dirty="0"/>
              <a:t>Lecture-1</a:t>
            </a:r>
            <a:br>
              <a:rPr lang="en-US" dirty="0"/>
            </a:br>
            <a:br>
              <a:rPr lang="en-US" dirty="0"/>
            </a:br>
            <a:r>
              <a:rPr lang="en-US" dirty="0"/>
              <a:t>Overview</a:t>
            </a:r>
            <a:br>
              <a:rPr lang="en-US" dirty="0"/>
            </a:br>
            <a:endParaRPr lang="en-US" dirty="0"/>
          </a:p>
        </p:txBody>
      </p:sp>
      <p:sp>
        <p:nvSpPr>
          <p:cNvPr id="3" name="Subtitle 2">
            <a:extLst>
              <a:ext uri="{FF2B5EF4-FFF2-40B4-BE49-F238E27FC236}">
                <a16:creationId xmlns:a16="http://schemas.microsoft.com/office/drawing/2014/main" id="{4BEB2DC8-B6B1-495A-C06E-C0D7432F7184}"/>
              </a:ext>
            </a:extLst>
          </p:cNvPr>
          <p:cNvSpPr>
            <a:spLocks noGrp="1"/>
          </p:cNvSpPr>
          <p:nvPr>
            <p:ph type="subTitle" idx="1"/>
          </p:nvPr>
        </p:nvSpPr>
        <p:spPr>
          <a:xfrm>
            <a:off x="1524000" y="4559468"/>
            <a:ext cx="9144000" cy="1655762"/>
          </a:xfrm>
        </p:spPr>
        <p:txBody>
          <a:bodyPr>
            <a:normAutofit lnSpcReduction="10000"/>
          </a:bodyPr>
          <a:lstStyle/>
          <a:p>
            <a:br>
              <a:rPr lang="en-US" dirty="0"/>
            </a:br>
            <a:endParaRPr lang="en-US" dirty="0"/>
          </a:p>
          <a:p>
            <a:endParaRPr lang="en-US" dirty="0"/>
          </a:p>
          <a:p>
            <a:r>
              <a:rPr lang="en-US" dirty="0"/>
              <a:t>Slides from Prof Liang &amp; Prof </a:t>
            </a:r>
            <a:r>
              <a:rPr lang="en-US" dirty="0" err="1"/>
              <a:t>Sadigh</a:t>
            </a:r>
            <a:endParaRPr lang="en-US" dirty="0"/>
          </a:p>
        </p:txBody>
      </p:sp>
    </p:spTree>
    <p:extLst>
      <p:ext uri="{BB962C8B-B14F-4D97-AF65-F5344CB8AC3E}">
        <p14:creationId xmlns:p14="http://schemas.microsoft.com/office/powerpoint/2010/main" val="3578275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45B4-D735-0D70-3B69-20892FFDD1F3}"/>
              </a:ext>
            </a:extLst>
          </p:cNvPr>
          <p:cNvSpPr>
            <a:spLocks noGrp="1"/>
          </p:cNvSpPr>
          <p:nvPr>
            <p:ph type="title"/>
          </p:nvPr>
        </p:nvSpPr>
        <p:spPr/>
        <p:txBody>
          <a:bodyPr/>
          <a:lstStyle/>
          <a:p>
            <a:r>
              <a:rPr lang="en-US" dirty="0"/>
              <a:t>Course Learning Outcomes</a:t>
            </a:r>
          </a:p>
        </p:txBody>
      </p:sp>
      <p:sp>
        <p:nvSpPr>
          <p:cNvPr id="6" name="Content Placeholder 5">
            <a:extLst>
              <a:ext uri="{FF2B5EF4-FFF2-40B4-BE49-F238E27FC236}">
                <a16:creationId xmlns:a16="http://schemas.microsoft.com/office/drawing/2014/main" id="{04B52EC2-445C-5D29-C570-E54D710ACF68}"/>
              </a:ext>
            </a:extLst>
          </p:cNvPr>
          <p:cNvSpPr>
            <a:spLocks noGrp="1"/>
          </p:cNvSpPr>
          <p:nvPr>
            <p:ph idx="1"/>
          </p:nvPr>
        </p:nvSpPr>
        <p:spPr/>
        <p:txBody>
          <a:bodyPr/>
          <a:lstStyle/>
          <a:p>
            <a:r>
              <a:rPr lang="en-US" sz="2200" dirty="0">
                <a:effectLst/>
                <a:latin typeface="Calibri" panose="020F0502020204030204" pitchFamily="34" charset="0"/>
                <a:ea typeface="Calibri" panose="020F0502020204030204" pitchFamily="34" charset="0"/>
                <a:cs typeface="Times New Roman" panose="02020603050405020304" pitchFamily="18" charset="0"/>
              </a:rPr>
              <a:t>Understand key components in the field of artificial intelligence</a:t>
            </a:r>
          </a:p>
          <a:p>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200" dirty="0">
                <a:effectLst/>
                <a:latin typeface="Calibri" panose="020F0502020204030204" pitchFamily="34" charset="0"/>
                <a:ea typeface="Calibri" panose="020F0502020204030204" pitchFamily="34" charset="0"/>
                <a:cs typeface="Times New Roman" panose="02020603050405020304" pitchFamily="18" charset="0"/>
              </a:rPr>
              <a:t>Implement classical artificial intelligence techniques</a:t>
            </a:r>
          </a:p>
          <a:p>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200" dirty="0">
                <a:effectLst/>
                <a:latin typeface="Calibri" panose="020F0502020204030204" pitchFamily="34" charset="0"/>
                <a:ea typeface="Calibri" panose="020F0502020204030204" pitchFamily="34" charset="0"/>
                <a:cs typeface="Times New Roman" panose="02020603050405020304" pitchFamily="18" charset="0"/>
              </a:rPr>
              <a:t>Analyze artificial intelligence techniques for practical problem solving</a:t>
            </a:r>
          </a:p>
          <a:p>
            <a:endParaRPr lang="en-US" sz="2200" dirty="0">
              <a:latin typeface="Calibri" panose="020F0502020204030204" pitchFamily="34" charset="0"/>
              <a:ea typeface="Calibri" panose="020F0502020204030204" pitchFamily="34" charset="0"/>
              <a:cs typeface="Times New Roman" panose="02020603050405020304" pitchFamily="18" charset="0"/>
            </a:endParaRPr>
          </a:p>
          <a:p>
            <a:r>
              <a:rPr lang="en-US" sz="2200" dirty="0">
                <a:effectLst/>
                <a:latin typeface="Calibri" panose="020F0502020204030204" pitchFamily="34" charset="0"/>
                <a:ea typeface="Calibri" panose="020F0502020204030204" pitchFamily="34" charset="0"/>
                <a:cs typeface="Times New Roman" panose="02020603050405020304" pitchFamily="18" charset="0"/>
              </a:rPr>
              <a:t>Design solutions to the problems using artificial Intelligence techniques and evaluate them using appropriate measures</a:t>
            </a: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9549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5355-D3AC-F62F-E2C1-1C57F7CF59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2B68D5-2BBA-E19B-B0DC-72CB92A5F643}"/>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618AC58B-91F0-00C1-5018-282409701BC0}"/>
              </a:ext>
            </a:extLst>
          </p:cNvPr>
          <p:cNvPicPr>
            <a:picLocks noChangeAspect="1"/>
          </p:cNvPicPr>
          <p:nvPr/>
        </p:nvPicPr>
        <p:blipFill rotWithShape="1">
          <a:blip r:embed="rId3"/>
          <a:srcRect l="24976" t="19676" r="26165" b="14951"/>
          <a:stretch/>
        </p:blipFill>
        <p:spPr>
          <a:xfrm>
            <a:off x="1189608" y="206886"/>
            <a:ext cx="9818703" cy="6547778"/>
          </a:xfrm>
          <a:prstGeom prst="rect">
            <a:avLst/>
          </a:prstGeom>
        </p:spPr>
      </p:pic>
    </p:spTree>
    <p:extLst>
      <p:ext uri="{BB962C8B-B14F-4D97-AF65-F5344CB8AC3E}">
        <p14:creationId xmlns:p14="http://schemas.microsoft.com/office/powerpoint/2010/main" val="2194949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8E2A-618B-5B8E-CF17-E021A24180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52F2DB-642C-93AF-2C6D-76093DC1D75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8E7A1AD-F9EC-5F5D-9FAA-9DEFE7CD6322}"/>
              </a:ext>
            </a:extLst>
          </p:cNvPr>
          <p:cNvPicPr>
            <a:picLocks noChangeAspect="1"/>
          </p:cNvPicPr>
          <p:nvPr/>
        </p:nvPicPr>
        <p:blipFill rotWithShape="1">
          <a:blip r:embed="rId3"/>
          <a:srcRect l="27617" t="24394" r="27559" b="12157"/>
          <a:stretch/>
        </p:blipFill>
        <p:spPr>
          <a:xfrm>
            <a:off x="580914" y="191088"/>
            <a:ext cx="10891682" cy="6547531"/>
          </a:xfrm>
          <a:prstGeom prst="rect">
            <a:avLst/>
          </a:prstGeom>
        </p:spPr>
      </p:pic>
    </p:spTree>
    <p:extLst>
      <p:ext uri="{BB962C8B-B14F-4D97-AF65-F5344CB8AC3E}">
        <p14:creationId xmlns:p14="http://schemas.microsoft.com/office/powerpoint/2010/main" val="2396045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8038-29BE-1A18-5A43-235E054D84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CD0BB8-9F19-6C3F-0C50-6B0683D87D9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9CF7E9B-E11D-1F8F-0868-19F56EDDDF5C}"/>
              </a:ext>
            </a:extLst>
          </p:cNvPr>
          <p:cNvPicPr>
            <a:picLocks noChangeAspect="1"/>
          </p:cNvPicPr>
          <p:nvPr/>
        </p:nvPicPr>
        <p:blipFill rotWithShape="1">
          <a:blip r:embed="rId3"/>
          <a:srcRect l="21441" t="24652" r="22617" b="9931"/>
          <a:stretch/>
        </p:blipFill>
        <p:spPr>
          <a:xfrm>
            <a:off x="1269402" y="356105"/>
            <a:ext cx="9116840" cy="5996857"/>
          </a:xfrm>
          <a:prstGeom prst="rect">
            <a:avLst/>
          </a:prstGeom>
        </p:spPr>
      </p:pic>
    </p:spTree>
    <p:extLst>
      <p:ext uri="{BB962C8B-B14F-4D97-AF65-F5344CB8AC3E}">
        <p14:creationId xmlns:p14="http://schemas.microsoft.com/office/powerpoint/2010/main" val="3358708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8DBB4-A2CA-4F02-1539-64D3DA0C85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729024-ECDD-34FA-A0D9-204D9F39FF2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5B274F3-FE40-7F94-7682-020195CB88C9}"/>
              </a:ext>
            </a:extLst>
          </p:cNvPr>
          <p:cNvPicPr>
            <a:picLocks noChangeAspect="1"/>
          </p:cNvPicPr>
          <p:nvPr/>
        </p:nvPicPr>
        <p:blipFill rotWithShape="1">
          <a:blip r:embed="rId3"/>
          <a:srcRect l="21970" t="29804" r="23588" b="9931"/>
          <a:stretch/>
        </p:blipFill>
        <p:spPr>
          <a:xfrm>
            <a:off x="1264409" y="681037"/>
            <a:ext cx="8826263" cy="5495926"/>
          </a:xfrm>
          <a:prstGeom prst="rect">
            <a:avLst/>
          </a:prstGeom>
        </p:spPr>
      </p:pic>
    </p:spTree>
    <p:extLst>
      <p:ext uri="{BB962C8B-B14F-4D97-AF65-F5344CB8AC3E}">
        <p14:creationId xmlns:p14="http://schemas.microsoft.com/office/powerpoint/2010/main" val="248357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B5D0-7589-EE39-7FF1-FDA0DC7CCC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5A5CFC-EC4C-2020-AE18-B858D7D3CD7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576A7A9-4B45-B87D-92E0-6C0E5BAB4CC1}"/>
              </a:ext>
            </a:extLst>
          </p:cNvPr>
          <p:cNvPicPr>
            <a:picLocks noChangeAspect="1"/>
          </p:cNvPicPr>
          <p:nvPr/>
        </p:nvPicPr>
        <p:blipFill rotWithShape="1">
          <a:blip r:embed="rId3"/>
          <a:srcRect l="21530" t="24652" r="23059" b="9931"/>
          <a:stretch/>
        </p:blipFill>
        <p:spPr>
          <a:xfrm>
            <a:off x="1602889" y="442801"/>
            <a:ext cx="8605190" cy="5714384"/>
          </a:xfrm>
          <a:prstGeom prst="rect">
            <a:avLst/>
          </a:prstGeom>
        </p:spPr>
      </p:pic>
    </p:spTree>
    <p:extLst>
      <p:ext uri="{BB962C8B-B14F-4D97-AF65-F5344CB8AC3E}">
        <p14:creationId xmlns:p14="http://schemas.microsoft.com/office/powerpoint/2010/main" val="1980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C7460-9D3A-8565-F64B-777F8A4B07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F79800-E6DE-20A6-9D6D-B3146B598D4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95119AC-A2C9-8193-D09B-FA775A9C02C9}"/>
              </a:ext>
            </a:extLst>
          </p:cNvPr>
          <p:cNvPicPr>
            <a:picLocks noChangeAspect="1"/>
          </p:cNvPicPr>
          <p:nvPr/>
        </p:nvPicPr>
        <p:blipFill rotWithShape="1">
          <a:blip r:embed="rId3"/>
          <a:srcRect l="22412" t="16628" r="24029" b="14196"/>
          <a:stretch/>
        </p:blipFill>
        <p:spPr>
          <a:xfrm>
            <a:off x="1688952" y="365125"/>
            <a:ext cx="8315660" cy="6041526"/>
          </a:xfrm>
          <a:prstGeom prst="rect">
            <a:avLst/>
          </a:prstGeom>
        </p:spPr>
      </p:pic>
    </p:spTree>
    <p:extLst>
      <p:ext uri="{BB962C8B-B14F-4D97-AF65-F5344CB8AC3E}">
        <p14:creationId xmlns:p14="http://schemas.microsoft.com/office/powerpoint/2010/main" val="174518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0ED81-F0B3-FF88-FEE5-D49CA3ECFA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77B4FB-9C04-D3DE-221C-E70E007BF8A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698A14E-B687-3ACD-51DC-AB4CCA34304F}"/>
              </a:ext>
            </a:extLst>
          </p:cNvPr>
          <p:cNvPicPr>
            <a:picLocks noChangeAspect="1"/>
          </p:cNvPicPr>
          <p:nvPr/>
        </p:nvPicPr>
        <p:blipFill rotWithShape="1">
          <a:blip r:embed="rId3"/>
          <a:srcRect l="22500" t="20549" r="23235" b="9931"/>
          <a:stretch/>
        </p:blipFill>
        <p:spPr>
          <a:xfrm>
            <a:off x="1420009" y="114608"/>
            <a:ext cx="8412479" cy="6062356"/>
          </a:xfrm>
          <a:prstGeom prst="rect">
            <a:avLst/>
          </a:prstGeom>
        </p:spPr>
      </p:pic>
    </p:spTree>
    <p:extLst>
      <p:ext uri="{BB962C8B-B14F-4D97-AF65-F5344CB8AC3E}">
        <p14:creationId xmlns:p14="http://schemas.microsoft.com/office/powerpoint/2010/main" val="356686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A706-09DF-C4A1-43A5-7CA8680466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384DA6-EEF8-B12D-E9BA-A27D15ADC1B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0B8A68B-0B52-670B-0983-58388161ED22}"/>
              </a:ext>
            </a:extLst>
          </p:cNvPr>
          <p:cNvPicPr>
            <a:picLocks noChangeAspect="1"/>
          </p:cNvPicPr>
          <p:nvPr/>
        </p:nvPicPr>
        <p:blipFill rotWithShape="1">
          <a:blip r:embed="rId3"/>
          <a:srcRect l="22677" t="26621" r="23412" b="11216"/>
          <a:stretch/>
        </p:blipFill>
        <p:spPr>
          <a:xfrm>
            <a:off x="1000012" y="87956"/>
            <a:ext cx="9252026" cy="6000873"/>
          </a:xfrm>
          <a:prstGeom prst="rect">
            <a:avLst/>
          </a:prstGeom>
        </p:spPr>
      </p:pic>
    </p:spTree>
    <p:extLst>
      <p:ext uri="{BB962C8B-B14F-4D97-AF65-F5344CB8AC3E}">
        <p14:creationId xmlns:p14="http://schemas.microsoft.com/office/powerpoint/2010/main" val="2742764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1936-10E4-5EEC-5BD1-8CA88C261F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47DC67-6512-0149-479F-28D707DD893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25B46C0-8867-D5FC-01E8-B37DF3416887}"/>
              </a:ext>
            </a:extLst>
          </p:cNvPr>
          <p:cNvPicPr>
            <a:picLocks noChangeAspect="1"/>
          </p:cNvPicPr>
          <p:nvPr/>
        </p:nvPicPr>
        <p:blipFill rotWithShape="1">
          <a:blip r:embed="rId3"/>
          <a:srcRect l="22412" t="18825" r="22617" b="15293"/>
          <a:stretch/>
        </p:blipFill>
        <p:spPr>
          <a:xfrm>
            <a:off x="2108500" y="486754"/>
            <a:ext cx="8261872" cy="5569801"/>
          </a:xfrm>
          <a:prstGeom prst="rect">
            <a:avLst/>
          </a:prstGeom>
        </p:spPr>
      </p:pic>
    </p:spTree>
    <p:extLst>
      <p:ext uri="{BB962C8B-B14F-4D97-AF65-F5344CB8AC3E}">
        <p14:creationId xmlns:p14="http://schemas.microsoft.com/office/powerpoint/2010/main" val="3484339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235C6-7DC2-9B9F-A2E7-4000B43DD5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579DA2-C7D3-CCEC-3B4A-14938C8DE6F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B4ADBBC-F105-637C-8B2F-24F8EEE1FCCE}"/>
              </a:ext>
            </a:extLst>
          </p:cNvPr>
          <p:cNvPicPr>
            <a:picLocks noChangeAspect="1"/>
          </p:cNvPicPr>
          <p:nvPr/>
        </p:nvPicPr>
        <p:blipFill rotWithShape="1">
          <a:blip r:embed="rId3"/>
          <a:srcRect l="21971" t="24652" r="23412" b="9931"/>
          <a:stretch/>
        </p:blipFill>
        <p:spPr>
          <a:xfrm>
            <a:off x="1818041" y="365125"/>
            <a:ext cx="8322193" cy="5606808"/>
          </a:xfrm>
          <a:prstGeom prst="rect">
            <a:avLst/>
          </a:prstGeom>
        </p:spPr>
      </p:pic>
    </p:spTree>
    <p:extLst>
      <p:ext uri="{BB962C8B-B14F-4D97-AF65-F5344CB8AC3E}">
        <p14:creationId xmlns:p14="http://schemas.microsoft.com/office/powerpoint/2010/main" val="958172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635BF-5897-5566-23A7-6C975B2104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A7582E-4B77-5804-A44E-28E57484EF1A}"/>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0C4DB36A-3D15-707E-07EE-B7D0208D5B78}"/>
              </a:ext>
            </a:extLst>
          </p:cNvPr>
          <p:cNvPicPr>
            <a:picLocks noChangeAspect="1"/>
          </p:cNvPicPr>
          <p:nvPr/>
        </p:nvPicPr>
        <p:blipFill rotWithShape="1">
          <a:blip r:embed="rId3"/>
          <a:srcRect l="22589" t="31372" r="24117" b="7963"/>
          <a:stretch/>
        </p:blipFill>
        <p:spPr>
          <a:xfrm>
            <a:off x="1339489" y="365125"/>
            <a:ext cx="8794214" cy="5630864"/>
          </a:xfrm>
          <a:prstGeom prst="rect">
            <a:avLst/>
          </a:prstGeom>
        </p:spPr>
      </p:pic>
    </p:spTree>
    <p:extLst>
      <p:ext uri="{BB962C8B-B14F-4D97-AF65-F5344CB8AC3E}">
        <p14:creationId xmlns:p14="http://schemas.microsoft.com/office/powerpoint/2010/main" val="3893784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E4D5-68B6-57A0-4513-846E310C0B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0008A2-4B1F-6FBB-BB13-325347348F6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3ECBE28-F6F0-0F09-DC0B-7C36B6860B1F}"/>
              </a:ext>
            </a:extLst>
          </p:cNvPr>
          <p:cNvPicPr>
            <a:picLocks noChangeAspect="1"/>
          </p:cNvPicPr>
          <p:nvPr/>
        </p:nvPicPr>
        <p:blipFill rotWithShape="1">
          <a:blip r:embed="rId3"/>
          <a:srcRect l="22147" t="17412" r="24470" b="17804"/>
          <a:stretch/>
        </p:blipFill>
        <p:spPr>
          <a:xfrm>
            <a:off x="1775012" y="681037"/>
            <a:ext cx="8229600" cy="5617893"/>
          </a:xfrm>
          <a:prstGeom prst="rect">
            <a:avLst/>
          </a:prstGeom>
        </p:spPr>
      </p:pic>
    </p:spTree>
    <p:extLst>
      <p:ext uri="{BB962C8B-B14F-4D97-AF65-F5344CB8AC3E}">
        <p14:creationId xmlns:p14="http://schemas.microsoft.com/office/powerpoint/2010/main" val="1312056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42487-E0ED-31A8-6A18-8CD7915733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6FE784-D1F1-CD35-F32D-DB626365070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06C36F2-FBC4-3EB6-CEDF-C3FEAF674434}"/>
              </a:ext>
            </a:extLst>
          </p:cNvPr>
          <p:cNvPicPr>
            <a:picLocks noChangeAspect="1"/>
          </p:cNvPicPr>
          <p:nvPr/>
        </p:nvPicPr>
        <p:blipFill rotWithShape="1">
          <a:blip r:embed="rId3"/>
          <a:srcRect l="22059" t="19765" r="23412" b="18431"/>
          <a:stretch/>
        </p:blipFill>
        <p:spPr>
          <a:xfrm>
            <a:off x="1785758" y="592923"/>
            <a:ext cx="8620484" cy="5495906"/>
          </a:xfrm>
          <a:prstGeom prst="rect">
            <a:avLst/>
          </a:prstGeom>
        </p:spPr>
      </p:pic>
    </p:spTree>
    <p:extLst>
      <p:ext uri="{BB962C8B-B14F-4D97-AF65-F5344CB8AC3E}">
        <p14:creationId xmlns:p14="http://schemas.microsoft.com/office/powerpoint/2010/main" val="3001403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011F5-3782-2A45-1733-16A247CAA6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CDBB35-D0A3-3937-8132-06699C68BE5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DD568C3-A19C-BCC5-A3A8-465B2723C797}"/>
              </a:ext>
            </a:extLst>
          </p:cNvPr>
          <p:cNvPicPr>
            <a:picLocks noChangeAspect="1"/>
          </p:cNvPicPr>
          <p:nvPr/>
        </p:nvPicPr>
        <p:blipFill rotWithShape="1">
          <a:blip r:embed="rId3"/>
          <a:srcRect l="23117" t="23373" r="23588" b="9931"/>
          <a:stretch/>
        </p:blipFill>
        <p:spPr>
          <a:xfrm>
            <a:off x="1516829" y="107570"/>
            <a:ext cx="8912115" cy="6273789"/>
          </a:xfrm>
          <a:prstGeom prst="rect">
            <a:avLst/>
          </a:prstGeom>
        </p:spPr>
      </p:pic>
    </p:spTree>
    <p:extLst>
      <p:ext uri="{BB962C8B-B14F-4D97-AF65-F5344CB8AC3E}">
        <p14:creationId xmlns:p14="http://schemas.microsoft.com/office/powerpoint/2010/main" val="3531161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FBC9C-5D97-BD16-53D3-B61A1B76F8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C94D0C-2D32-EEBF-A878-CAB0CDDAE8B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011F73E-0375-9729-6377-8A6104037A8E}"/>
              </a:ext>
            </a:extLst>
          </p:cNvPr>
          <p:cNvPicPr>
            <a:picLocks noChangeAspect="1"/>
          </p:cNvPicPr>
          <p:nvPr/>
        </p:nvPicPr>
        <p:blipFill rotWithShape="1">
          <a:blip r:embed="rId3"/>
          <a:srcRect l="23735" t="17882" r="23588" b="14196"/>
          <a:stretch/>
        </p:blipFill>
        <p:spPr>
          <a:xfrm>
            <a:off x="1871830" y="293918"/>
            <a:ext cx="8111265" cy="5883045"/>
          </a:xfrm>
          <a:prstGeom prst="rect">
            <a:avLst/>
          </a:prstGeom>
        </p:spPr>
      </p:pic>
    </p:spTree>
    <p:extLst>
      <p:ext uri="{BB962C8B-B14F-4D97-AF65-F5344CB8AC3E}">
        <p14:creationId xmlns:p14="http://schemas.microsoft.com/office/powerpoint/2010/main" val="261775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86398-F03C-5130-B5DB-5B84D24700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025D89-A664-FF27-908E-F55004286A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E2F8CDE-5990-D4E5-0C67-AFC79D064E59}"/>
              </a:ext>
            </a:extLst>
          </p:cNvPr>
          <p:cNvPicPr>
            <a:picLocks noChangeAspect="1"/>
          </p:cNvPicPr>
          <p:nvPr/>
        </p:nvPicPr>
        <p:blipFill rotWithShape="1">
          <a:blip r:embed="rId2"/>
          <a:srcRect l="31500" t="20863" r="25088" b="11843"/>
          <a:stretch/>
        </p:blipFill>
        <p:spPr>
          <a:xfrm>
            <a:off x="2775473" y="502133"/>
            <a:ext cx="6357769" cy="5543666"/>
          </a:xfrm>
          <a:prstGeom prst="rect">
            <a:avLst/>
          </a:prstGeom>
        </p:spPr>
      </p:pic>
    </p:spTree>
    <p:extLst>
      <p:ext uri="{BB962C8B-B14F-4D97-AF65-F5344CB8AC3E}">
        <p14:creationId xmlns:p14="http://schemas.microsoft.com/office/powerpoint/2010/main" val="4004612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2FD9-2BC9-AD16-CF6B-E7AD2D9CD4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15EB7D-A45C-38B5-1265-3F3EECB9D16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32936BA-1E3A-F87B-5B7D-A1868C7241A5}"/>
              </a:ext>
            </a:extLst>
          </p:cNvPr>
          <p:cNvPicPr>
            <a:picLocks noChangeAspect="1"/>
          </p:cNvPicPr>
          <p:nvPr/>
        </p:nvPicPr>
        <p:blipFill rotWithShape="1">
          <a:blip r:embed="rId3"/>
          <a:srcRect l="26647" t="24653" r="25441" b="11898"/>
          <a:stretch/>
        </p:blipFill>
        <p:spPr>
          <a:xfrm>
            <a:off x="2343747" y="365125"/>
            <a:ext cx="7504506" cy="5590205"/>
          </a:xfrm>
          <a:prstGeom prst="rect">
            <a:avLst/>
          </a:prstGeom>
        </p:spPr>
      </p:pic>
    </p:spTree>
    <p:extLst>
      <p:ext uri="{BB962C8B-B14F-4D97-AF65-F5344CB8AC3E}">
        <p14:creationId xmlns:p14="http://schemas.microsoft.com/office/powerpoint/2010/main" val="4000923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39D70-DF6E-6653-BCEA-492F14CB67CD}"/>
              </a:ext>
            </a:extLst>
          </p:cNvPr>
          <p:cNvSpPr>
            <a:spLocks noGrp="1"/>
          </p:cNvSpPr>
          <p:nvPr>
            <p:ph type="title"/>
          </p:nvPr>
        </p:nvSpPr>
        <p:spPr>
          <a:xfrm>
            <a:off x="838200" y="2484382"/>
            <a:ext cx="10515600" cy="1325563"/>
          </a:xfrm>
        </p:spPr>
        <p:txBody>
          <a:bodyPr/>
          <a:lstStyle/>
          <a:p>
            <a:pPr algn="ctr"/>
            <a:r>
              <a:rPr lang="en-US" dirty="0"/>
              <a:t>AI Agents</a:t>
            </a:r>
          </a:p>
        </p:txBody>
      </p:sp>
    </p:spTree>
    <p:extLst>
      <p:ext uri="{BB962C8B-B14F-4D97-AF65-F5344CB8AC3E}">
        <p14:creationId xmlns:p14="http://schemas.microsoft.com/office/powerpoint/2010/main" val="2191325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373B-D760-3554-BC14-315752F2C54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E94FD2F-7D45-3F3E-32CC-46C521AA21B8}"/>
              </a:ext>
            </a:extLst>
          </p:cNvPr>
          <p:cNvPicPr>
            <a:picLocks noChangeAspect="1"/>
          </p:cNvPicPr>
          <p:nvPr/>
        </p:nvPicPr>
        <p:blipFill rotWithShape="1">
          <a:blip r:embed="rId3"/>
          <a:srcRect l="24176" t="21333" r="23235" b="13726"/>
          <a:stretch/>
        </p:blipFill>
        <p:spPr>
          <a:xfrm>
            <a:off x="1731981" y="365125"/>
            <a:ext cx="8240358" cy="5724007"/>
          </a:xfrm>
          <a:prstGeom prst="rect">
            <a:avLst/>
          </a:prstGeom>
        </p:spPr>
      </p:pic>
    </p:spTree>
    <p:extLst>
      <p:ext uri="{BB962C8B-B14F-4D97-AF65-F5344CB8AC3E}">
        <p14:creationId xmlns:p14="http://schemas.microsoft.com/office/powerpoint/2010/main" val="2059159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B3B4E-0AD0-E907-DA1A-87DD88A46EC3}"/>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8B01BA7-BB63-7704-703C-1BB5620CE526}"/>
              </a:ext>
            </a:extLst>
          </p:cNvPr>
          <p:cNvPicPr>
            <a:picLocks noChangeAspect="1"/>
          </p:cNvPicPr>
          <p:nvPr/>
        </p:nvPicPr>
        <p:blipFill rotWithShape="1">
          <a:blip r:embed="rId3"/>
          <a:srcRect l="22588" t="24652" r="26147" b="10432"/>
          <a:stretch/>
        </p:blipFill>
        <p:spPr>
          <a:xfrm>
            <a:off x="1610061" y="0"/>
            <a:ext cx="8971878" cy="6390547"/>
          </a:xfrm>
          <a:prstGeom prst="rect">
            <a:avLst/>
          </a:prstGeom>
        </p:spPr>
      </p:pic>
    </p:spTree>
    <p:extLst>
      <p:ext uri="{BB962C8B-B14F-4D97-AF65-F5344CB8AC3E}">
        <p14:creationId xmlns:p14="http://schemas.microsoft.com/office/powerpoint/2010/main" val="2519135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09962-391D-CE54-A7BC-2F86F57C01ED}"/>
              </a:ext>
            </a:extLst>
          </p:cNvPr>
          <p:cNvSpPr>
            <a:spLocks noGrp="1"/>
          </p:cNvSpPr>
          <p:nvPr>
            <p:ph type="title"/>
          </p:nvPr>
        </p:nvSpPr>
        <p:spPr>
          <a:xfrm>
            <a:off x="838200" y="2409078"/>
            <a:ext cx="10515600" cy="1325563"/>
          </a:xfrm>
        </p:spPr>
        <p:txBody>
          <a:bodyPr/>
          <a:lstStyle/>
          <a:p>
            <a:pPr algn="ctr"/>
            <a:r>
              <a:rPr lang="en-US" dirty="0"/>
              <a:t>AI Tools</a:t>
            </a:r>
          </a:p>
        </p:txBody>
      </p:sp>
    </p:spTree>
    <p:extLst>
      <p:ext uri="{BB962C8B-B14F-4D97-AF65-F5344CB8AC3E}">
        <p14:creationId xmlns:p14="http://schemas.microsoft.com/office/powerpoint/2010/main" val="1557093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B7E32-D264-305F-25D2-467987EE1DD7}"/>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1E0F9285-4B93-4E00-11A1-4B3E849E2EF6}"/>
              </a:ext>
            </a:extLst>
          </p:cNvPr>
          <p:cNvPicPr>
            <a:picLocks noChangeAspect="1"/>
          </p:cNvPicPr>
          <p:nvPr/>
        </p:nvPicPr>
        <p:blipFill rotWithShape="1">
          <a:blip r:embed="rId3"/>
          <a:srcRect l="25060" t="25811" r="24734" b="10432"/>
          <a:stretch/>
        </p:blipFill>
        <p:spPr>
          <a:xfrm>
            <a:off x="1936377" y="365125"/>
            <a:ext cx="8578362" cy="6127750"/>
          </a:xfrm>
          <a:prstGeom prst="rect">
            <a:avLst/>
          </a:prstGeom>
        </p:spPr>
      </p:pic>
    </p:spTree>
    <p:extLst>
      <p:ext uri="{BB962C8B-B14F-4D97-AF65-F5344CB8AC3E}">
        <p14:creationId xmlns:p14="http://schemas.microsoft.com/office/powerpoint/2010/main" val="1134413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EBE9-DF22-0E1E-584C-7E595E29DF25}"/>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A43ED6E5-FB5B-6845-4E72-57D8FDFA9246}"/>
              </a:ext>
            </a:extLst>
          </p:cNvPr>
          <p:cNvPicPr>
            <a:picLocks noChangeAspect="1"/>
          </p:cNvPicPr>
          <p:nvPr/>
        </p:nvPicPr>
        <p:blipFill rotWithShape="1">
          <a:blip r:embed="rId3"/>
          <a:srcRect l="23824" t="29647" r="24117" b="10275"/>
          <a:stretch/>
        </p:blipFill>
        <p:spPr>
          <a:xfrm>
            <a:off x="1555319" y="247426"/>
            <a:ext cx="9081361" cy="5895191"/>
          </a:xfrm>
          <a:prstGeom prst="rect">
            <a:avLst/>
          </a:prstGeom>
        </p:spPr>
      </p:pic>
    </p:spTree>
    <p:extLst>
      <p:ext uri="{BB962C8B-B14F-4D97-AF65-F5344CB8AC3E}">
        <p14:creationId xmlns:p14="http://schemas.microsoft.com/office/powerpoint/2010/main" val="3347753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ADB-BA22-F66D-C2B2-B17456B8A30D}"/>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5E5F60A-CA07-91F6-F536-6B00FBDF0929}"/>
              </a:ext>
            </a:extLst>
          </p:cNvPr>
          <p:cNvPicPr>
            <a:picLocks noChangeAspect="1"/>
          </p:cNvPicPr>
          <p:nvPr/>
        </p:nvPicPr>
        <p:blipFill rotWithShape="1">
          <a:blip r:embed="rId3"/>
          <a:srcRect l="24176" t="20235" r="24912" b="14039"/>
          <a:stretch/>
        </p:blipFill>
        <p:spPr>
          <a:xfrm>
            <a:off x="1653623" y="236667"/>
            <a:ext cx="8221898" cy="5970495"/>
          </a:xfrm>
          <a:prstGeom prst="rect">
            <a:avLst/>
          </a:prstGeom>
        </p:spPr>
      </p:pic>
    </p:spTree>
    <p:extLst>
      <p:ext uri="{BB962C8B-B14F-4D97-AF65-F5344CB8AC3E}">
        <p14:creationId xmlns:p14="http://schemas.microsoft.com/office/powerpoint/2010/main" val="1127382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83F78-658C-8457-1937-C95ACF4D2FF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04333BD6-D8E6-3626-81DF-FFCB82D9E399}"/>
              </a:ext>
            </a:extLst>
          </p:cNvPr>
          <p:cNvPicPr>
            <a:picLocks noChangeAspect="1"/>
          </p:cNvPicPr>
          <p:nvPr/>
        </p:nvPicPr>
        <p:blipFill rotWithShape="1">
          <a:blip r:embed="rId3"/>
          <a:srcRect l="23735" t="23373" r="24736" b="6824"/>
          <a:stretch/>
        </p:blipFill>
        <p:spPr>
          <a:xfrm>
            <a:off x="1882587" y="268306"/>
            <a:ext cx="7906857" cy="6024918"/>
          </a:xfrm>
          <a:prstGeom prst="rect">
            <a:avLst/>
          </a:prstGeom>
        </p:spPr>
      </p:pic>
    </p:spTree>
    <p:extLst>
      <p:ext uri="{BB962C8B-B14F-4D97-AF65-F5344CB8AC3E}">
        <p14:creationId xmlns:p14="http://schemas.microsoft.com/office/powerpoint/2010/main" val="836478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8FEE-7D5F-579E-628D-562784EBAAE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7766223-65AE-7AF1-DBBA-064CE05296B1}"/>
              </a:ext>
            </a:extLst>
          </p:cNvPr>
          <p:cNvPicPr>
            <a:picLocks noChangeAspect="1"/>
          </p:cNvPicPr>
          <p:nvPr/>
        </p:nvPicPr>
        <p:blipFill rotWithShape="1">
          <a:blip r:embed="rId2"/>
          <a:srcRect l="25147" t="28235" r="24735" b="9804"/>
          <a:stretch/>
        </p:blipFill>
        <p:spPr>
          <a:xfrm>
            <a:off x="1670621" y="365125"/>
            <a:ext cx="8678235" cy="6035040"/>
          </a:xfrm>
          <a:prstGeom prst="rect">
            <a:avLst/>
          </a:prstGeom>
        </p:spPr>
      </p:pic>
      <p:pic>
        <p:nvPicPr>
          <p:cNvPr id="5" name="Picture 4">
            <a:extLst>
              <a:ext uri="{FF2B5EF4-FFF2-40B4-BE49-F238E27FC236}">
                <a16:creationId xmlns:a16="http://schemas.microsoft.com/office/drawing/2014/main" id="{CF2E9685-0D86-AA7E-863E-15825ABBF71B}"/>
              </a:ext>
            </a:extLst>
          </p:cNvPr>
          <p:cNvPicPr>
            <a:picLocks noChangeAspect="1"/>
          </p:cNvPicPr>
          <p:nvPr/>
        </p:nvPicPr>
        <p:blipFill rotWithShape="1">
          <a:blip r:embed="rId3"/>
          <a:srcRect l="1148" t="14274" r="34793" b="48863"/>
          <a:stretch/>
        </p:blipFill>
        <p:spPr>
          <a:xfrm>
            <a:off x="1140310" y="1027906"/>
            <a:ext cx="10381130" cy="3360283"/>
          </a:xfrm>
          <a:prstGeom prst="rect">
            <a:avLst/>
          </a:prstGeom>
        </p:spPr>
      </p:pic>
    </p:spTree>
    <p:extLst>
      <p:ext uri="{BB962C8B-B14F-4D97-AF65-F5344CB8AC3E}">
        <p14:creationId xmlns:p14="http://schemas.microsoft.com/office/powerpoint/2010/main" val="363640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C417-7A46-62EB-673A-04C79E2DA26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E7104ACB-83E2-6E02-E1ED-1129D9FC14FB}"/>
              </a:ext>
            </a:extLst>
          </p:cNvPr>
          <p:cNvPicPr>
            <a:picLocks noChangeAspect="1"/>
          </p:cNvPicPr>
          <p:nvPr/>
        </p:nvPicPr>
        <p:blipFill rotWithShape="1">
          <a:blip r:embed="rId3"/>
          <a:srcRect l="22676" t="18666" r="23764" b="8706"/>
          <a:stretch/>
        </p:blipFill>
        <p:spPr>
          <a:xfrm>
            <a:off x="2140770" y="77945"/>
            <a:ext cx="8218844" cy="6269068"/>
          </a:xfrm>
          <a:prstGeom prst="rect">
            <a:avLst/>
          </a:prstGeom>
        </p:spPr>
      </p:pic>
    </p:spTree>
    <p:extLst>
      <p:ext uri="{BB962C8B-B14F-4D97-AF65-F5344CB8AC3E}">
        <p14:creationId xmlns:p14="http://schemas.microsoft.com/office/powerpoint/2010/main" val="3068687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EA974-38BB-7D9F-DD7D-15F8D63DCF5F}"/>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58981D2-D09E-F749-283B-CBA2A64AC7D6}"/>
              </a:ext>
            </a:extLst>
          </p:cNvPr>
          <p:cNvPicPr>
            <a:picLocks noChangeAspect="1"/>
          </p:cNvPicPr>
          <p:nvPr/>
        </p:nvPicPr>
        <p:blipFill rotWithShape="1">
          <a:blip r:embed="rId2"/>
          <a:srcRect l="22941" t="23059" r="23764" b="9333"/>
          <a:stretch/>
        </p:blipFill>
        <p:spPr>
          <a:xfrm>
            <a:off x="1807285" y="365125"/>
            <a:ext cx="8321776" cy="5938221"/>
          </a:xfrm>
          <a:prstGeom prst="rect">
            <a:avLst/>
          </a:prstGeom>
        </p:spPr>
      </p:pic>
    </p:spTree>
    <p:extLst>
      <p:ext uri="{BB962C8B-B14F-4D97-AF65-F5344CB8AC3E}">
        <p14:creationId xmlns:p14="http://schemas.microsoft.com/office/powerpoint/2010/main" val="3523314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B38B2-A58C-4B1C-D6C0-A5FCC18A63CA}"/>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FD92027C-6127-2D25-78F5-43C6FA2B76EC}"/>
              </a:ext>
            </a:extLst>
          </p:cNvPr>
          <p:cNvPicPr>
            <a:picLocks noChangeAspect="1"/>
          </p:cNvPicPr>
          <p:nvPr/>
        </p:nvPicPr>
        <p:blipFill rotWithShape="1">
          <a:blip r:embed="rId2"/>
          <a:srcRect l="30000" t="26039" r="26676" b="7294"/>
          <a:stretch/>
        </p:blipFill>
        <p:spPr>
          <a:xfrm>
            <a:off x="2468161" y="432678"/>
            <a:ext cx="6923265" cy="5992644"/>
          </a:xfrm>
          <a:prstGeom prst="rect">
            <a:avLst/>
          </a:prstGeom>
        </p:spPr>
      </p:pic>
    </p:spTree>
    <p:extLst>
      <p:ext uri="{BB962C8B-B14F-4D97-AF65-F5344CB8AC3E}">
        <p14:creationId xmlns:p14="http://schemas.microsoft.com/office/powerpoint/2010/main" val="1176592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DD4DE-0571-4DD7-EF38-2F0560E114B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B3D666C0-F2C7-39D6-2E17-7359DFA90A65}"/>
              </a:ext>
            </a:extLst>
          </p:cNvPr>
          <p:cNvPicPr>
            <a:picLocks noChangeAspect="1"/>
          </p:cNvPicPr>
          <p:nvPr/>
        </p:nvPicPr>
        <p:blipFill rotWithShape="1">
          <a:blip r:embed="rId3"/>
          <a:srcRect l="24353" t="28549" r="26235" b="9647"/>
          <a:stretch/>
        </p:blipFill>
        <p:spPr>
          <a:xfrm>
            <a:off x="1630438" y="513360"/>
            <a:ext cx="8288113" cy="5831280"/>
          </a:xfrm>
          <a:prstGeom prst="rect">
            <a:avLst/>
          </a:prstGeom>
        </p:spPr>
      </p:pic>
    </p:spTree>
    <p:extLst>
      <p:ext uri="{BB962C8B-B14F-4D97-AF65-F5344CB8AC3E}">
        <p14:creationId xmlns:p14="http://schemas.microsoft.com/office/powerpoint/2010/main" val="348127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F5F98-D4DA-5D57-F97B-03117A12387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9F786674-D7EE-2C2A-B947-3E00FBE518CA}"/>
              </a:ext>
            </a:extLst>
          </p:cNvPr>
          <p:cNvPicPr>
            <a:picLocks noChangeAspect="1"/>
          </p:cNvPicPr>
          <p:nvPr/>
        </p:nvPicPr>
        <p:blipFill rotWithShape="1">
          <a:blip r:embed="rId3"/>
          <a:srcRect l="29823" t="23530" r="29147" b="17961"/>
          <a:stretch/>
        </p:blipFill>
        <p:spPr>
          <a:xfrm>
            <a:off x="2678654" y="75304"/>
            <a:ext cx="7818616" cy="6271708"/>
          </a:xfrm>
          <a:prstGeom prst="rect">
            <a:avLst/>
          </a:prstGeom>
        </p:spPr>
      </p:pic>
    </p:spTree>
    <p:extLst>
      <p:ext uri="{BB962C8B-B14F-4D97-AF65-F5344CB8AC3E}">
        <p14:creationId xmlns:p14="http://schemas.microsoft.com/office/powerpoint/2010/main" val="2417710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80A3B-F242-1C32-98F8-189C6491A8A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54B52D8B-173C-1380-18BF-165AC8AF75D7}"/>
              </a:ext>
            </a:extLst>
          </p:cNvPr>
          <p:cNvPicPr>
            <a:picLocks noChangeAspect="1"/>
          </p:cNvPicPr>
          <p:nvPr/>
        </p:nvPicPr>
        <p:blipFill rotWithShape="1">
          <a:blip r:embed="rId3"/>
          <a:srcRect l="24441" t="17725" r="24647" b="16078"/>
          <a:stretch/>
        </p:blipFill>
        <p:spPr>
          <a:xfrm>
            <a:off x="2269861" y="514728"/>
            <a:ext cx="7562626" cy="5531071"/>
          </a:xfrm>
          <a:prstGeom prst="rect">
            <a:avLst/>
          </a:prstGeom>
        </p:spPr>
      </p:pic>
    </p:spTree>
    <p:extLst>
      <p:ext uri="{BB962C8B-B14F-4D97-AF65-F5344CB8AC3E}">
        <p14:creationId xmlns:p14="http://schemas.microsoft.com/office/powerpoint/2010/main" val="1277549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A4EE-3BB1-B76B-11F7-EF0743859EED}"/>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78D0B16E-7B6F-280B-CCE3-B5B5164661D8}"/>
              </a:ext>
            </a:extLst>
          </p:cNvPr>
          <p:cNvPicPr>
            <a:picLocks noChangeAspect="1"/>
          </p:cNvPicPr>
          <p:nvPr/>
        </p:nvPicPr>
        <p:blipFill rotWithShape="1">
          <a:blip r:embed="rId3"/>
          <a:srcRect l="26647" t="21177" r="26765" b="12941"/>
          <a:stretch/>
        </p:blipFill>
        <p:spPr>
          <a:xfrm>
            <a:off x="2592592" y="279698"/>
            <a:ext cx="7289382" cy="5798372"/>
          </a:xfrm>
          <a:prstGeom prst="rect">
            <a:avLst/>
          </a:prstGeom>
        </p:spPr>
      </p:pic>
    </p:spTree>
    <p:extLst>
      <p:ext uri="{BB962C8B-B14F-4D97-AF65-F5344CB8AC3E}">
        <p14:creationId xmlns:p14="http://schemas.microsoft.com/office/powerpoint/2010/main" val="3243881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F225B-2285-F47F-3D9D-964B71142EE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8166AB89-F412-4D54-1B30-8E60CBBAADD8}"/>
              </a:ext>
            </a:extLst>
          </p:cNvPr>
          <p:cNvPicPr>
            <a:picLocks noChangeAspect="1"/>
          </p:cNvPicPr>
          <p:nvPr/>
        </p:nvPicPr>
        <p:blipFill rotWithShape="1">
          <a:blip r:embed="rId3"/>
          <a:srcRect l="25500" t="17411" r="25441" b="14824"/>
          <a:stretch/>
        </p:blipFill>
        <p:spPr>
          <a:xfrm>
            <a:off x="2549562" y="365125"/>
            <a:ext cx="7393492" cy="5744584"/>
          </a:xfrm>
          <a:prstGeom prst="rect">
            <a:avLst/>
          </a:prstGeom>
        </p:spPr>
      </p:pic>
    </p:spTree>
    <p:extLst>
      <p:ext uri="{BB962C8B-B14F-4D97-AF65-F5344CB8AC3E}">
        <p14:creationId xmlns:p14="http://schemas.microsoft.com/office/powerpoint/2010/main" val="1821572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F1619-AE0F-8027-C875-A6EFBAC1E98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87B73CB-314A-BCFA-3FB2-FCDF29CDDD33}"/>
              </a:ext>
            </a:extLst>
          </p:cNvPr>
          <p:cNvPicPr>
            <a:picLocks noChangeAspect="1"/>
          </p:cNvPicPr>
          <p:nvPr/>
        </p:nvPicPr>
        <p:blipFill rotWithShape="1">
          <a:blip r:embed="rId3"/>
          <a:srcRect l="22765" t="22588" r="24294" b="12628"/>
          <a:stretch/>
        </p:blipFill>
        <p:spPr>
          <a:xfrm>
            <a:off x="2775473" y="1549100"/>
            <a:ext cx="6454588" cy="4442909"/>
          </a:xfrm>
          <a:prstGeom prst="rect">
            <a:avLst/>
          </a:prstGeom>
        </p:spPr>
      </p:pic>
    </p:spTree>
    <p:extLst>
      <p:ext uri="{BB962C8B-B14F-4D97-AF65-F5344CB8AC3E}">
        <p14:creationId xmlns:p14="http://schemas.microsoft.com/office/powerpoint/2010/main" val="3652805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A8FAC-562B-93C3-CE00-6242F8752589}"/>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3CAF0F3-4262-D466-056E-C866EF87D697}"/>
              </a:ext>
            </a:extLst>
          </p:cNvPr>
          <p:cNvPicPr>
            <a:picLocks noChangeAspect="1"/>
          </p:cNvPicPr>
          <p:nvPr/>
        </p:nvPicPr>
        <p:blipFill rotWithShape="1">
          <a:blip r:embed="rId3"/>
          <a:srcRect l="22676" t="23373" r="24030" b="10588"/>
          <a:stretch/>
        </p:blipFill>
        <p:spPr>
          <a:xfrm>
            <a:off x="1581373" y="726141"/>
            <a:ext cx="8273411" cy="5766734"/>
          </a:xfrm>
          <a:prstGeom prst="rect">
            <a:avLst/>
          </a:prstGeom>
        </p:spPr>
      </p:pic>
    </p:spTree>
    <p:extLst>
      <p:ext uri="{BB962C8B-B14F-4D97-AF65-F5344CB8AC3E}">
        <p14:creationId xmlns:p14="http://schemas.microsoft.com/office/powerpoint/2010/main" val="943324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4A53-6DC5-814F-EEE3-4E8D26BDA996}"/>
              </a:ext>
            </a:extLst>
          </p:cNvPr>
          <p:cNvSpPr>
            <a:spLocks noGrp="1"/>
          </p:cNvSpPr>
          <p:nvPr>
            <p:ph type="title"/>
          </p:nvPr>
        </p:nvSpPr>
        <p:spPr/>
        <p:txBody>
          <a:bodyPr/>
          <a:lstStyle/>
          <a:p>
            <a:r>
              <a:rPr lang="en-US" dirty="0"/>
              <a:t>What is this animal?</a:t>
            </a:r>
          </a:p>
        </p:txBody>
      </p:sp>
      <p:pic>
        <p:nvPicPr>
          <p:cNvPr id="6" name="Picture 5">
            <a:extLst>
              <a:ext uri="{FF2B5EF4-FFF2-40B4-BE49-F238E27FC236}">
                <a16:creationId xmlns:a16="http://schemas.microsoft.com/office/drawing/2014/main" id="{F77AA17B-C9E6-D172-762C-160DA70061D2}"/>
              </a:ext>
            </a:extLst>
          </p:cNvPr>
          <p:cNvPicPr>
            <a:picLocks noChangeAspect="1"/>
          </p:cNvPicPr>
          <p:nvPr/>
        </p:nvPicPr>
        <p:blipFill rotWithShape="1">
          <a:blip r:embed="rId3"/>
          <a:srcRect l="60883" t="25882" r="3206" b="31294"/>
          <a:stretch/>
        </p:blipFill>
        <p:spPr>
          <a:xfrm>
            <a:off x="2000921" y="1960580"/>
            <a:ext cx="6788077" cy="4553181"/>
          </a:xfrm>
          <a:prstGeom prst="rect">
            <a:avLst/>
          </a:prstGeom>
        </p:spPr>
      </p:pic>
    </p:spTree>
    <p:extLst>
      <p:ext uri="{BB962C8B-B14F-4D97-AF65-F5344CB8AC3E}">
        <p14:creationId xmlns:p14="http://schemas.microsoft.com/office/powerpoint/2010/main" val="27698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CA6A-2949-BD84-CB32-9154BF130B0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5998CA3-FAD3-8BF5-D66C-B56EE297D546}"/>
              </a:ext>
            </a:extLst>
          </p:cNvPr>
          <p:cNvPicPr>
            <a:picLocks noChangeAspect="1"/>
          </p:cNvPicPr>
          <p:nvPr/>
        </p:nvPicPr>
        <p:blipFill rotWithShape="1">
          <a:blip r:embed="rId3"/>
          <a:srcRect l="22500" t="22117" r="23147" b="10118"/>
          <a:stretch/>
        </p:blipFill>
        <p:spPr>
          <a:xfrm>
            <a:off x="1854598" y="236669"/>
            <a:ext cx="8482803" cy="5948979"/>
          </a:xfrm>
          <a:prstGeom prst="rect">
            <a:avLst/>
          </a:prstGeom>
        </p:spPr>
      </p:pic>
    </p:spTree>
    <p:extLst>
      <p:ext uri="{BB962C8B-B14F-4D97-AF65-F5344CB8AC3E}">
        <p14:creationId xmlns:p14="http://schemas.microsoft.com/office/powerpoint/2010/main" val="1801732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51B23-9FB6-3D5E-08BA-066D8C8A4BC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56B3E8A-2C30-0A74-978F-9CB5B7078409}"/>
              </a:ext>
            </a:extLst>
          </p:cNvPr>
          <p:cNvPicPr>
            <a:picLocks noChangeAspect="1"/>
          </p:cNvPicPr>
          <p:nvPr/>
        </p:nvPicPr>
        <p:blipFill rotWithShape="1">
          <a:blip r:embed="rId2"/>
          <a:srcRect l="22588" t="17725" r="23235" b="15608"/>
          <a:stretch/>
        </p:blipFill>
        <p:spPr>
          <a:xfrm>
            <a:off x="1764254" y="446249"/>
            <a:ext cx="8369449" cy="5793186"/>
          </a:xfrm>
          <a:prstGeom prst="rect">
            <a:avLst/>
          </a:prstGeom>
        </p:spPr>
      </p:pic>
    </p:spTree>
    <p:extLst>
      <p:ext uri="{BB962C8B-B14F-4D97-AF65-F5344CB8AC3E}">
        <p14:creationId xmlns:p14="http://schemas.microsoft.com/office/powerpoint/2010/main" val="1929596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1D4F-D4DA-3D88-5EA8-9AEEFB364247}"/>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9C39759-7809-4532-4231-4A121F4D3C33}"/>
              </a:ext>
            </a:extLst>
          </p:cNvPr>
          <p:cNvPicPr>
            <a:picLocks noChangeAspect="1"/>
          </p:cNvPicPr>
          <p:nvPr/>
        </p:nvPicPr>
        <p:blipFill rotWithShape="1">
          <a:blip r:embed="rId2"/>
          <a:srcRect l="23030" t="18352" r="23853" b="15922"/>
          <a:stretch/>
        </p:blipFill>
        <p:spPr>
          <a:xfrm>
            <a:off x="1895139" y="365125"/>
            <a:ext cx="8401722" cy="5847712"/>
          </a:xfrm>
          <a:prstGeom prst="rect">
            <a:avLst/>
          </a:prstGeom>
        </p:spPr>
      </p:pic>
    </p:spTree>
    <p:extLst>
      <p:ext uri="{BB962C8B-B14F-4D97-AF65-F5344CB8AC3E}">
        <p14:creationId xmlns:p14="http://schemas.microsoft.com/office/powerpoint/2010/main" val="727856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389E-0DDE-6385-B62C-3653A5768544}"/>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4FB0EBAF-4B7F-3591-6484-29EF05254422}"/>
              </a:ext>
            </a:extLst>
          </p:cNvPr>
          <p:cNvPicPr>
            <a:picLocks noChangeAspect="1"/>
          </p:cNvPicPr>
          <p:nvPr/>
        </p:nvPicPr>
        <p:blipFill rotWithShape="1">
          <a:blip r:embed="rId3"/>
          <a:srcRect l="22588" t="19608" r="23764" b="11686"/>
          <a:stretch/>
        </p:blipFill>
        <p:spPr>
          <a:xfrm>
            <a:off x="1996894" y="182881"/>
            <a:ext cx="8198211" cy="5905948"/>
          </a:xfrm>
          <a:prstGeom prst="rect">
            <a:avLst/>
          </a:prstGeom>
        </p:spPr>
      </p:pic>
    </p:spTree>
    <p:extLst>
      <p:ext uri="{BB962C8B-B14F-4D97-AF65-F5344CB8AC3E}">
        <p14:creationId xmlns:p14="http://schemas.microsoft.com/office/powerpoint/2010/main" val="1263740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4E11-9881-ABDD-4795-63309B9B4B83}"/>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B813882-2F79-EC24-135E-5FDA304300DA}"/>
              </a:ext>
            </a:extLst>
          </p:cNvPr>
          <p:cNvPicPr>
            <a:picLocks noChangeAspect="1"/>
          </p:cNvPicPr>
          <p:nvPr/>
        </p:nvPicPr>
        <p:blipFill rotWithShape="1">
          <a:blip r:embed="rId3"/>
          <a:srcRect l="22412" t="24652" r="23588" b="9020"/>
          <a:stretch/>
        </p:blipFill>
        <p:spPr>
          <a:xfrm>
            <a:off x="1871830" y="139849"/>
            <a:ext cx="8875015" cy="6131859"/>
          </a:xfrm>
          <a:prstGeom prst="rect">
            <a:avLst/>
          </a:prstGeom>
        </p:spPr>
      </p:pic>
    </p:spTree>
    <p:extLst>
      <p:ext uri="{BB962C8B-B14F-4D97-AF65-F5344CB8AC3E}">
        <p14:creationId xmlns:p14="http://schemas.microsoft.com/office/powerpoint/2010/main" val="896038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3FBE-ECA0-D561-0B11-C86BB5EED05F}"/>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E4ABDB82-E00F-B3B3-5A9E-C5E8C56418AE}"/>
              </a:ext>
            </a:extLst>
          </p:cNvPr>
          <p:cNvPicPr>
            <a:picLocks noChangeAspect="1"/>
          </p:cNvPicPr>
          <p:nvPr/>
        </p:nvPicPr>
        <p:blipFill rotWithShape="1">
          <a:blip r:embed="rId2"/>
          <a:srcRect l="24706" t="19922" r="25706" b="15451"/>
          <a:stretch/>
        </p:blipFill>
        <p:spPr>
          <a:xfrm>
            <a:off x="2248347" y="365125"/>
            <a:ext cx="7909429" cy="5798373"/>
          </a:xfrm>
          <a:prstGeom prst="rect">
            <a:avLst/>
          </a:prstGeom>
        </p:spPr>
      </p:pic>
    </p:spTree>
    <p:extLst>
      <p:ext uri="{BB962C8B-B14F-4D97-AF65-F5344CB8AC3E}">
        <p14:creationId xmlns:p14="http://schemas.microsoft.com/office/powerpoint/2010/main" val="1473901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A4F7-B061-6912-E6F5-C1C6F9603384}"/>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0ECD676-7EF3-F02B-D23F-06C44E50E613}"/>
              </a:ext>
            </a:extLst>
          </p:cNvPr>
          <p:cNvPicPr>
            <a:picLocks noChangeAspect="1"/>
          </p:cNvPicPr>
          <p:nvPr/>
        </p:nvPicPr>
        <p:blipFill rotWithShape="1">
          <a:blip r:embed="rId2"/>
          <a:srcRect l="23206" t="21647" r="24647" b="10902"/>
          <a:stretch/>
        </p:blipFill>
        <p:spPr>
          <a:xfrm>
            <a:off x="1763845" y="277008"/>
            <a:ext cx="8664309" cy="6303983"/>
          </a:xfrm>
          <a:prstGeom prst="rect">
            <a:avLst/>
          </a:prstGeom>
        </p:spPr>
      </p:pic>
    </p:spTree>
    <p:extLst>
      <p:ext uri="{BB962C8B-B14F-4D97-AF65-F5344CB8AC3E}">
        <p14:creationId xmlns:p14="http://schemas.microsoft.com/office/powerpoint/2010/main" val="4251509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F47CB-AF60-8E4F-F4CC-8B4B7BD14298}"/>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FFFD678-B0CB-47FC-DFD7-F75428223F20}"/>
              </a:ext>
            </a:extLst>
          </p:cNvPr>
          <p:cNvPicPr>
            <a:picLocks noChangeAspect="1"/>
          </p:cNvPicPr>
          <p:nvPr/>
        </p:nvPicPr>
        <p:blipFill rotWithShape="1">
          <a:blip r:embed="rId3"/>
          <a:srcRect l="22059" t="22431" r="23677" b="12314"/>
          <a:stretch/>
        </p:blipFill>
        <p:spPr>
          <a:xfrm>
            <a:off x="1762232" y="204396"/>
            <a:ext cx="8667535" cy="5862918"/>
          </a:xfrm>
          <a:prstGeom prst="rect">
            <a:avLst/>
          </a:prstGeom>
        </p:spPr>
      </p:pic>
    </p:spTree>
    <p:extLst>
      <p:ext uri="{BB962C8B-B14F-4D97-AF65-F5344CB8AC3E}">
        <p14:creationId xmlns:p14="http://schemas.microsoft.com/office/powerpoint/2010/main" val="9376676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AE25-8EDE-8031-4AED-823AAE101DE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4225846-2CED-8459-6400-24A167FA7405}"/>
              </a:ext>
            </a:extLst>
          </p:cNvPr>
          <p:cNvPicPr>
            <a:picLocks noChangeAspect="1"/>
          </p:cNvPicPr>
          <p:nvPr/>
        </p:nvPicPr>
        <p:blipFill rotWithShape="1">
          <a:blip r:embed="rId3"/>
          <a:srcRect l="22588" t="26510" r="23412" b="5324"/>
          <a:stretch/>
        </p:blipFill>
        <p:spPr>
          <a:xfrm>
            <a:off x="1523964" y="0"/>
            <a:ext cx="9144072" cy="6492875"/>
          </a:xfrm>
          <a:prstGeom prst="rect">
            <a:avLst/>
          </a:prstGeom>
        </p:spPr>
      </p:pic>
    </p:spTree>
    <p:extLst>
      <p:ext uri="{BB962C8B-B14F-4D97-AF65-F5344CB8AC3E}">
        <p14:creationId xmlns:p14="http://schemas.microsoft.com/office/powerpoint/2010/main" val="4184214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6EDC-2DAE-81AB-DDA6-CCF189EACBE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08B82AC7-F126-59D1-D869-077108AB5B68}"/>
              </a:ext>
            </a:extLst>
          </p:cNvPr>
          <p:cNvPicPr>
            <a:picLocks noChangeAspect="1"/>
          </p:cNvPicPr>
          <p:nvPr/>
        </p:nvPicPr>
        <p:blipFill rotWithShape="1">
          <a:blip r:embed="rId3"/>
          <a:srcRect l="23471" t="19451" r="23588" b="11216"/>
          <a:stretch/>
        </p:blipFill>
        <p:spPr>
          <a:xfrm>
            <a:off x="2173044" y="217161"/>
            <a:ext cx="8218842" cy="6054547"/>
          </a:xfrm>
          <a:prstGeom prst="rect">
            <a:avLst/>
          </a:prstGeom>
        </p:spPr>
      </p:pic>
    </p:spTree>
    <p:extLst>
      <p:ext uri="{BB962C8B-B14F-4D97-AF65-F5344CB8AC3E}">
        <p14:creationId xmlns:p14="http://schemas.microsoft.com/office/powerpoint/2010/main" val="412734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21C7C-9E22-3BED-A820-3714F17FA38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ED0B782-9F05-9858-C770-74283FC7D944}"/>
              </a:ext>
            </a:extLst>
          </p:cNvPr>
          <p:cNvPicPr>
            <a:picLocks noChangeAspect="1"/>
          </p:cNvPicPr>
          <p:nvPr/>
        </p:nvPicPr>
        <p:blipFill rotWithShape="1">
          <a:blip r:embed="rId3"/>
          <a:srcRect l="22236" t="22745" r="23412" b="8705"/>
          <a:stretch/>
        </p:blipFill>
        <p:spPr>
          <a:xfrm>
            <a:off x="1893345" y="228600"/>
            <a:ext cx="9022636" cy="6400800"/>
          </a:xfrm>
          <a:prstGeom prst="rect">
            <a:avLst/>
          </a:prstGeom>
        </p:spPr>
      </p:pic>
    </p:spTree>
    <p:extLst>
      <p:ext uri="{BB962C8B-B14F-4D97-AF65-F5344CB8AC3E}">
        <p14:creationId xmlns:p14="http://schemas.microsoft.com/office/powerpoint/2010/main" val="2271737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FB84-251E-3745-2633-D1B5826FA49B}"/>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013E8908-3C3A-D0B2-4991-8DC8ED579A20}"/>
              </a:ext>
            </a:extLst>
          </p:cNvPr>
          <p:cNvPicPr>
            <a:picLocks noChangeAspect="1"/>
          </p:cNvPicPr>
          <p:nvPr/>
        </p:nvPicPr>
        <p:blipFill rotWithShape="1">
          <a:blip r:embed="rId2"/>
          <a:srcRect l="29029" t="20393" r="24735" b="10274"/>
          <a:stretch/>
        </p:blipFill>
        <p:spPr>
          <a:xfrm>
            <a:off x="1861073" y="48861"/>
            <a:ext cx="8014447" cy="6760278"/>
          </a:xfrm>
          <a:prstGeom prst="rect">
            <a:avLst/>
          </a:prstGeom>
        </p:spPr>
      </p:pic>
    </p:spTree>
    <p:extLst>
      <p:ext uri="{BB962C8B-B14F-4D97-AF65-F5344CB8AC3E}">
        <p14:creationId xmlns:p14="http://schemas.microsoft.com/office/powerpoint/2010/main" val="3967296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Books</a:t>
            </a:r>
          </a:p>
        </p:txBody>
      </p:sp>
      <p:sp>
        <p:nvSpPr>
          <p:cNvPr id="3" name="Content Placeholder 2"/>
          <p:cNvSpPr>
            <a:spLocks noGrp="1"/>
          </p:cNvSpPr>
          <p:nvPr>
            <p:ph idx="1"/>
          </p:nvPr>
        </p:nvSpPr>
        <p:spPr>
          <a:xfrm>
            <a:off x="838200" y="1825625"/>
            <a:ext cx="7126357" cy="4351338"/>
          </a:xfrm>
        </p:spPr>
        <p:txBody>
          <a:bodyPr>
            <a:normAutofit/>
          </a:bodyPr>
          <a:lstStyle/>
          <a:p>
            <a:r>
              <a:rPr lang="en-US" b="1" dirty="0"/>
              <a:t>Artificial Intelligence: A Modern Approach</a:t>
            </a:r>
            <a:r>
              <a:rPr lang="en-US" dirty="0"/>
              <a:t>, by Russell &amp; </a:t>
            </a:r>
            <a:r>
              <a:rPr lang="en-US" dirty="0" err="1"/>
              <a:t>Norvig</a:t>
            </a:r>
            <a:r>
              <a:rPr lang="en-US" dirty="0"/>
              <a:t>. </a:t>
            </a:r>
          </a:p>
          <a:p>
            <a:endParaRPr lang="en-US" dirty="0"/>
          </a:p>
          <a:p>
            <a:endParaRPr lang="en-US" dirty="0"/>
          </a:p>
          <a:p>
            <a:r>
              <a:rPr lang="en-US" dirty="0"/>
              <a:t>“</a:t>
            </a:r>
            <a:r>
              <a:rPr lang="en-US" b="1" dirty="0"/>
              <a:t>Artificial Intelligence Illuminated</a:t>
            </a:r>
            <a:r>
              <a:rPr lang="en-US" dirty="0"/>
              <a:t>”   by   Ben Coppin, </a:t>
            </a:r>
          </a:p>
          <a:p>
            <a:pPr marL="0" indent="0">
              <a:buNone/>
            </a:pPr>
            <a:r>
              <a:rPr lang="en-US" sz="1200" dirty="0"/>
              <a:t>       (</a:t>
            </a:r>
            <a:r>
              <a:rPr lang="en-US" sz="1200" dirty="0">
                <a:hlinkClick r:id="rId2"/>
              </a:rPr>
              <a:t>http://futuresoft.yolasite.com/resources/Artificial%20Intelligence%20Illuminated.pdf</a:t>
            </a:r>
            <a:r>
              <a:rPr lang="en-US" sz="1200" dirty="0"/>
              <a:t>)</a:t>
            </a:r>
          </a:p>
          <a:p>
            <a:endParaRPr lang="en-US" dirty="0"/>
          </a:p>
          <a:p>
            <a:endParaRPr lang="en-US" dirty="0"/>
          </a:p>
        </p:txBody>
      </p:sp>
      <p:pic>
        <p:nvPicPr>
          <p:cNvPr id="5" name="Picture 4"/>
          <p:cNvPicPr>
            <a:picLocks noChangeAspect="1"/>
          </p:cNvPicPr>
          <p:nvPr/>
        </p:nvPicPr>
        <p:blipFill>
          <a:blip r:embed="rId3"/>
          <a:stretch>
            <a:fillRect/>
          </a:stretch>
        </p:blipFill>
        <p:spPr>
          <a:xfrm>
            <a:off x="8734892" y="249513"/>
            <a:ext cx="2476500" cy="3060459"/>
          </a:xfrm>
          <a:prstGeom prst="rect">
            <a:avLst/>
          </a:prstGeom>
        </p:spPr>
      </p:pic>
      <p:pic>
        <p:nvPicPr>
          <p:cNvPr id="2052" name="Picture 4" descr="Image result for artificial intelligence illuminat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4892" y="3425584"/>
            <a:ext cx="2476500" cy="321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3434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C751-7E5A-521B-E63F-832B1718F4D6}"/>
              </a:ext>
            </a:extLst>
          </p:cNvPr>
          <p:cNvSpPr>
            <a:spLocks noGrp="1"/>
          </p:cNvSpPr>
          <p:nvPr>
            <p:ph type="title"/>
          </p:nvPr>
        </p:nvSpPr>
        <p:spPr/>
        <p:txBody>
          <a:bodyPr/>
          <a:lstStyle/>
          <a:p>
            <a:r>
              <a:rPr lang="en-US" dirty="0"/>
              <a:t>Other Resources</a:t>
            </a:r>
          </a:p>
        </p:txBody>
      </p:sp>
      <p:sp>
        <p:nvSpPr>
          <p:cNvPr id="3" name="Content Placeholder 2">
            <a:extLst>
              <a:ext uri="{FF2B5EF4-FFF2-40B4-BE49-F238E27FC236}">
                <a16:creationId xmlns:a16="http://schemas.microsoft.com/office/drawing/2014/main" id="{6F380178-83DC-7015-63BB-CD7BB6BF1368}"/>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hlinkClick r:id="rId2"/>
              </a:rPr>
              <a:t>Sutton and </a:t>
            </a:r>
            <a:r>
              <a:rPr lang="en-US" b="0" i="0" u="none" strike="noStrike" dirty="0" err="1">
                <a:solidFill>
                  <a:srgbClr val="000000"/>
                </a:solidFill>
                <a:effectLst/>
                <a:latin typeface="Arial" panose="020B0604020202020204" pitchFamily="34" charset="0"/>
                <a:hlinkClick r:id="rId2"/>
              </a:rPr>
              <a:t>Barto</a:t>
            </a:r>
            <a:r>
              <a:rPr lang="en-US" b="0" i="0" u="none" strike="noStrike" dirty="0">
                <a:solidFill>
                  <a:srgbClr val="000000"/>
                </a:solidFill>
                <a:effectLst/>
                <a:latin typeface="Arial" panose="020B0604020202020204" pitchFamily="34" charset="0"/>
                <a:hlinkClick r:id="rId2"/>
              </a:rPr>
              <a:t>. Reinforcement Learning: An Introduction.</a:t>
            </a:r>
            <a:r>
              <a:rPr lang="en-US" b="0" i="0" dirty="0">
                <a:solidFill>
                  <a:srgbClr val="000000"/>
                </a:solidFill>
                <a:effectLst/>
                <a:latin typeface="Arial" panose="020B0604020202020204" pitchFamily="34" charset="0"/>
              </a:rPr>
              <a:t> Covers Markov decision processes and reinforcement learning. Available free online.</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hlinkClick r:id="rId3"/>
              </a:rPr>
              <a:t>Hastie, </a:t>
            </a:r>
            <a:r>
              <a:rPr lang="en-US" b="0" i="0" u="none" strike="noStrike" dirty="0" err="1">
                <a:solidFill>
                  <a:srgbClr val="000000"/>
                </a:solidFill>
                <a:effectLst/>
                <a:latin typeface="Arial" panose="020B0604020202020204" pitchFamily="34" charset="0"/>
                <a:hlinkClick r:id="rId3"/>
              </a:rPr>
              <a:t>Tibshirani</a:t>
            </a:r>
            <a:r>
              <a:rPr lang="en-US" b="0" i="0" u="none" strike="noStrike" dirty="0">
                <a:solidFill>
                  <a:srgbClr val="000000"/>
                </a:solidFill>
                <a:effectLst/>
                <a:latin typeface="Arial" panose="020B0604020202020204" pitchFamily="34" charset="0"/>
                <a:hlinkClick r:id="rId3"/>
              </a:rPr>
              <a:t>, and Friedman. The elements of statistical learning.</a:t>
            </a:r>
            <a:r>
              <a:rPr lang="en-US" b="0" i="0" dirty="0">
                <a:solidFill>
                  <a:srgbClr val="000000"/>
                </a:solidFill>
                <a:effectLst/>
                <a:latin typeface="Arial" panose="020B0604020202020204" pitchFamily="34" charset="0"/>
              </a:rPr>
              <a:t> Covers machine learning. Available free online.</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hlinkClick r:id="rId4"/>
              </a:rPr>
              <a:t>Tsang. Foundations of constraint satisfaction.</a:t>
            </a:r>
            <a:r>
              <a:rPr lang="en-US" b="0" i="0" dirty="0">
                <a:solidFill>
                  <a:srgbClr val="000000"/>
                </a:solidFill>
                <a:effectLst/>
                <a:latin typeface="Arial" panose="020B0604020202020204" pitchFamily="34" charset="0"/>
              </a:rPr>
              <a:t> Covers constraint satisfaction problems. Available free online.</a:t>
            </a:r>
          </a:p>
          <a:p>
            <a:endParaRPr lang="en-US" dirty="0"/>
          </a:p>
        </p:txBody>
      </p:sp>
    </p:spTree>
    <p:extLst>
      <p:ext uri="{BB962C8B-B14F-4D97-AF65-F5344CB8AC3E}">
        <p14:creationId xmlns:p14="http://schemas.microsoft.com/office/powerpoint/2010/main" val="22052974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Grading (Tentative)</a:t>
            </a:r>
          </a:p>
        </p:txBody>
      </p:sp>
      <p:graphicFrame>
        <p:nvGraphicFramePr>
          <p:cNvPr id="8" name="Table 7"/>
          <p:cNvGraphicFramePr>
            <a:graphicFrameLocks noGrp="1"/>
          </p:cNvGraphicFramePr>
          <p:nvPr>
            <p:extLst>
              <p:ext uri="{D42A27DB-BD31-4B8C-83A1-F6EECF244321}">
                <p14:modId xmlns:p14="http://schemas.microsoft.com/office/powerpoint/2010/main" val="3242586163"/>
              </p:ext>
            </p:extLst>
          </p:nvPr>
        </p:nvGraphicFramePr>
        <p:xfrm>
          <a:off x="2637183" y="2061749"/>
          <a:ext cx="6665843" cy="3627120"/>
        </p:xfrm>
        <a:graphic>
          <a:graphicData uri="http://schemas.openxmlformats.org/drawingml/2006/table">
            <a:tbl>
              <a:tblPr firstRow="1" bandRow="1">
                <a:tableStyleId>{5C22544A-7EE6-4342-B048-85BDC9FD1C3A}</a:tableStyleId>
              </a:tblPr>
              <a:tblGrid>
                <a:gridCol w="4218794">
                  <a:extLst>
                    <a:ext uri="{9D8B030D-6E8A-4147-A177-3AD203B41FA5}">
                      <a16:colId xmlns:a16="http://schemas.microsoft.com/office/drawing/2014/main" val="20000"/>
                    </a:ext>
                  </a:extLst>
                </a:gridCol>
                <a:gridCol w="2447049">
                  <a:extLst>
                    <a:ext uri="{9D8B030D-6E8A-4147-A177-3AD203B41FA5}">
                      <a16:colId xmlns:a16="http://schemas.microsoft.com/office/drawing/2014/main" val="20001"/>
                    </a:ext>
                  </a:extLst>
                </a:gridCol>
              </a:tblGrid>
              <a:tr h="0">
                <a:tc>
                  <a:txBody>
                    <a:bodyPr/>
                    <a:lstStyle/>
                    <a:p>
                      <a:pPr algn="ctr"/>
                      <a:r>
                        <a:rPr lang="en-US" sz="2800" dirty="0"/>
                        <a:t>ITEM</a:t>
                      </a:r>
                    </a:p>
                  </a:txBody>
                  <a:tcPr/>
                </a:tc>
                <a:tc>
                  <a:txBody>
                    <a:bodyPr/>
                    <a:lstStyle/>
                    <a:p>
                      <a:pPr algn="ctr"/>
                      <a:r>
                        <a:rPr lang="en-US" sz="2800" dirty="0"/>
                        <a:t>WEIGHTAGE</a:t>
                      </a:r>
                    </a:p>
                  </a:txBody>
                  <a:tcPr/>
                </a:tc>
                <a:extLst>
                  <a:ext uri="{0D108BD9-81ED-4DB2-BD59-A6C34878D82A}">
                    <a16:rowId xmlns:a16="http://schemas.microsoft.com/office/drawing/2014/main" val="10000"/>
                  </a:ext>
                </a:extLst>
              </a:tr>
              <a:tr h="370840">
                <a:tc>
                  <a:txBody>
                    <a:bodyPr/>
                    <a:lstStyle/>
                    <a:p>
                      <a:r>
                        <a:rPr lang="en-US" sz="2800" dirty="0"/>
                        <a:t>Quizzes</a:t>
                      </a:r>
                    </a:p>
                  </a:txBody>
                  <a:tcPr/>
                </a:tc>
                <a:tc>
                  <a:txBody>
                    <a:bodyPr/>
                    <a:lstStyle/>
                    <a:p>
                      <a:pPr algn="ctr"/>
                      <a:r>
                        <a:rPr lang="en-US" sz="2800" dirty="0"/>
                        <a:t>10 %</a:t>
                      </a:r>
                    </a:p>
                  </a:txBody>
                  <a:tcPr/>
                </a:tc>
                <a:extLst>
                  <a:ext uri="{0D108BD9-81ED-4DB2-BD59-A6C34878D82A}">
                    <a16:rowId xmlns:a16="http://schemas.microsoft.com/office/drawing/2014/main" val="10001"/>
                  </a:ext>
                </a:extLst>
              </a:tr>
              <a:tr h="370840">
                <a:tc>
                  <a:txBody>
                    <a:bodyPr/>
                    <a:lstStyle/>
                    <a:p>
                      <a:r>
                        <a:rPr lang="en-US" sz="2800" dirty="0"/>
                        <a:t>Assignments</a:t>
                      </a:r>
                    </a:p>
                  </a:txBody>
                  <a:tcPr/>
                </a:tc>
                <a:tc>
                  <a:txBody>
                    <a:bodyPr/>
                    <a:lstStyle/>
                    <a:p>
                      <a:pPr algn="ctr"/>
                      <a:r>
                        <a:rPr lang="en-US" sz="2800" dirty="0"/>
                        <a:t>10 %</a:t>
                      </a:r>
                    </a:p>
                  </a:txBody>
                  <a:tcPr/>
                </a:tc>
                <a:extLst>
                  <a:ext uri="{0D108BD9-81ED-4DB2-BD59-A6C34878D82A}">
                    <a16:rowId xmlns:a16="http://schemas.microsoft.com/office/drawing/2014/main" val="10002"/>
                  </a:ext>
                </a:extLst>
              </a:tr>
              <a:tr h="370840">
                <a:tc>
                  <a:txBody>
                    <a:bodyPr/>
                    <a:lstStyle/>
                    <a:p>
                      <a:r>
                        <a:rPr lang="en-US" sz="2800" dirty="0"/>
                        <a:t>Project</a:t>
                      </a:r>
                    </a:p>
                  </a:txBody>
                  <a:tcPr/>
                </a:tc>
                <a:tc>
                  <a:txBody>
                    <a:bodyPr/>
                    <a:lstStyle/>
                    <a:p>
                      <a:pPr algn="ctr"/>
                      <a:r>
                        <a:rPr lang="en-US" sz="2800" dirty="0"/>
                        <a:t>10%</a:t>
                      </a:r>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Mid Term</a:t>
                      </a:r>
                    </a:p>
                  </a:txBody>
                  <a:tcPr/>
                </a:tc>
                <a:tc>
                  <a:txBody>
                    <a:bodyPr/>
                    <a:lstStyle/>
                    <a:p>
                      <a:pPr algn="ctr"/>
                      <a:r>
                        <a:rPr lang="en-US" sz="2800" dirty="0"/>
                        <a:t>20 %</a:t>
                      </a:r>
                    </a:p>
                  </a:txBody>
                  <a:tcPr/>
                </a:tc>
                <a:extLst>
                  <a:ext uri="{0D108BD9-81ED-4DB2-BD59-A6C34878D82A}">
                    <a16:rowId xmlns:a16="http://schemas.microsoft.com/office/drawing/2014/main" val="10004"/>
                  </a:ext>
                </a:extLst>
              </a:tr>
              <a:tr h="370840">
                <a:tc>
                  <a:txBody>
                    <a:bodyPr/>
                    <a:lstStyle/>
                    <a:p>
                      <a:r>
                        <a:rPr lang="en-US" sz="2800" dirty="0"/>
                        <a:t>Final Term</a:t>
                      </a:r>
                    </a:p>
                  </a:txBody>
                  <a:tcPr>
                    <a:lnB w="12700" cap="flat" cmpd="sng" algn="ctr">
                      <a:solidFill>
                        <a:schemeClr val="tx1"/>
                      </a:solidFill>
                      <a:prstDash val="solid"/>
                      <a:round/>
                      <a:headEnd type="none" w="med" len="med"/>
                      <a:tailEnd type="none" w="med" len="med"/>
                    </a:lnB>
                  </a:tcPr>
                </a:tc>
                <a:tc>
                  <a:txBody>
                    <a:bodyPr/>
                    <a:lstStyle/>
                    <a:p>
                      <a:pPr algn="ctr"/>
                      <a:r>
                        <a:rPr lang="en-US" sz="2800" dirty="0"/>
                        <a:t>50 %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sz="2800" b="1" dirty="0"/>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55648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Logistics</a:t>
            </a:r>
          </a:p>
        </p:txBody>
      </p:sp>
      <p:sp>
        <p:nvSpPr>
          <p:cNvPr id="3" name="Content Placeholder 2"/>
          <p:cNvSpPr>
            <a:spLocks noGrp="1"/>
          </p:cNvSpPr>
          <p:nvPr>
            <p:ph idx="1"/>
          </p:nvPr>
        </p:nvSpPr>
        <p:spPr/>
        <p:txBody>
          <a:bodyPr/>
          <a:lstStyle/>
          <a:p>
            <a:r>
              <a:rPr lang="en-US" dirty="0"/>
              <a:t>Quiz may be un-announced.</a:t>
            </a:r>
          </a:p>
          <a:p>
            <a:r>
              <a:rPr lang="en-US" dirty="0"/>
              <a:t>Read the book </a:t>
            </a:r>
          </a:p>
          <a:p>
            <a:r>
              <a:rPr lang="en-US" dirty="0"/>
              <a:t>Plagiarism – Write your own Solution</a:t>
            </a:r>
          </a:p>
          <a:p>
            <a:r>
              <a:rPr lang="en-US" dirty="0"/>
              <a:t>Deadline of the assignments will not be extended</a:t>
            </a:r>
          </a:p>
          <a:p>
            <a:r>
              <a:rPr lang="en-US" dirty="0"/>
              <a:t>No Late submissions will be accepted.</a:t>
            </a:r>
          </a:p>
        </p:txBody>
      </p:sp>
    </p:spTree>
    <p:extLst>
      <p:ext uri="{BB962C8B-B14F-4D97-AF65-F5344CB8AC3E}">
        <p14:creationId xmlns:p14="http://schemas.microsoft.com/office/powerpoint/2010/main" val="3251280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0041-9D1C-EDA0-C6E0-FCE611161CFC}"/>
              </a:ext>
            </a:extLst>
          </p:cNvPr>
          <p:cNvSpPr>
            <a:spLocks noGrp="1"/>
          </p:cNvSpPr>
          <p:nvPr>
            <p:ph type="title"/>
          </p:nvPr>
        </p:nvSpPr>
        <p:spPr/>
        <p:txBody>
          <a:bodyPr/>
          <a:lstStyle/>
          <a:p>
            <a:r>
              <a:rPr lang="en-US" dirty="0"/>
              <a:t>:</a:t>
            </a:r>
          </a:p>
        </p:txBody>
      </p:sp>
      <p:pic>
        <p:nvPicPr>
          <p:cNvPr id="4" name="Picture 3">
            <a:extLst>
              <a:ext uri="{FF2B5EF4-FFF2-40B4-BE49-F238E27FC236}">
                <a16:creationId xmlns:a16="http://schemas.microsoft.com/office/drawing/2014/main" id="{F642DED0-6B9B-BBE3-0F91-30421FCD34DF}"/>
              </a:ext>
            </a:extLst>
          </p:cNvPr>
          <p:cNvPicPr>
            <a:picLocks noChangeAspect="1"/>
          </p:cNvPicPr>
          <p:nvPr/>
        </p:nvPicPr>
        <p:blipFill rotWithShape="1">
          <a:blip r:embed="rId2"/>
          <a:srcRect l="27882" t="17882" r="24029" b="14667"/>
          <a:stretch/>
        </p:blipFill>
        <p:spPr>
          <a:xfrm>
            <a:off x="2427642" y="365125"/>
            <a:ext cx="7336716" cy="5788601"/>
          </a:xfrm>
          <a:prstGeom prst="rect">
            <a:avLst/>
          </a:prstGeom>
        </p:spPr>
      </p:pic>
    </p:spTree>
    <p:extLst>
      <p:ext uri="{BB962C8B-B14F-4D97-AF65-F5344CB8AC3E}">
        <p14:creationId xmlns:p14="http://schemas.microsoft.com/office/powerpoint/2010/main" val="19869047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CA411-3900-A59D-7AC0-BEC5CFDBF413}"/>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888EF1B-01DD-4230-BA21-5A06F7CAA62B}"/>
              </a:ext>
            </a:extLst>
          </p:cNvPr>
          <p:cNvPicPr>
            <a:picLocks noChangeAspect="1"/>
          </p:cNvPicPr>
          <p:nvPr/>
        </p:nvPicPr>
        <p:blipFill rotWithShape="1">
          <a:blip r:embed="rId2"/>
          <a:srcRect l="22235" t="19608" r="25177" b="13412"/>
          <a:stretch/>
        </p:blipFill>
        <p:spPr>
          <a:xfrm>
            <a:off x="1613647" y="247426"/>
            <a:ext cx="8288478" cy="5938221"/>
          </a:xfrm>
          <a:prstGeom prst="rect">
            <a:avLst/>
          </a:prstGeom>
        </p:spPr>
      </p:pic>
    </p:spTree>
    <p:extLst>
      <p:ext uri="{BB962C8B-B14F-4D97-AF65-F5344CB8AC3E}">
        <p14:creationId xmlns:p14="http://schemas.microsoft.com/office/powerpoint/2010/main" val="1740208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D903-19BF-E926-4ABA-F7FF7260902C}"/>
              </a:ext>
            </a:extLst>
          </p:cNvPr>
          <p:cNvSpPr>
            <a:spLocks noGrp="1"/>
          </p:cNvSpPr>
          <p:nvPr>
            <p:ph type="title"/>
          </p:nvPr>
        </p:nvSpPr>
        <p:spPr/>
        <p:txBody>
          <a:bodyPr/>
          <a:lstStyle/>
          <a:p>
            <a:r>
              <a:rPr lang="en-US" dirty="0"/>
              <a:t>Modeling-Inference-Learning Paradigm</a:t>
            </a:r>
          </a:p>
        </p:txBody>
      </p:sp>
      <p:sp>
        <p:nvSpPr>
          <p:cNvPr id="3" name="Content Placeholder 2">
            <a:extLst>
              <a:ext uri="{FF2B5EF4-FFF2-40B4-BE49-F238E27FC236}">
                <a16:creationId xmlns:a16="http://schemas.microsoft.com/office/drawing/2014/main" id="{6587B60A-DE0C-7BB9-592E-25090F72931D}"/>
              </a:ext>
            </a:extLst>
          </p:cNvPr>
          <p:cNvSpPr>
            <a:spLocks noGrp="1"/>
          </p:cNvSpPr>
          <p:nvPr>
            <p:ph idx="1"/>
          </p:nvPr>
        </p:nvSpPr>
        <p:spPr>
          <a:xfrm>
            <a:off x="505609" y="1825624"/>
            <a:ext cx="11295529" cy="4667251"/>
          </a:xfrm>
        </p:spPr>
        <p:txBody>
          <a:bodyPr>
            <a:normAutofit fontScale="92500" lnSpcReduction="10000"/>
          </a:bodyPr>
          <a:lstStyle/>
          <a:p>
            <a:pPr algn="just"/>
            <a:r>
              <a:rPr lang="en-US" dirty="0"/>
              <a:t>We will approach inference and learning from an optimization perspective, which allows us to decouple the mathematical specification of what we want to compute from the algorithms for how to compute it. </a:t>
            </a:r>
          </a:p>
          <a:p>
            <a:pPr algn="just"/>
            <a:r>
              <a:rPr lang="en-US" dirty="0"/>
              <a:t>In total generality, optimization problems ask that you find the x that lives in a constraint set C that makes the function F(x) as small as possible. </a:t>
            </a:r>
          </a:p>
          <a:p>
            <a:pPr algn="just"/>
            <a:r>
              <a:rPr lang="en-US" dirty="0"/>
              <a:t>There are two types of optimization problems we’ll consider: discrete optimization problems (mostly for inference) and continuous optimization problems (mostly for learning). Both are backed by a rich research field and are interesting topics in their own right. For this course, we will use the most basic tools from these topics: dynamic programming and gradient descent. </a:t>
            </a:r>
          </a:p>
          <a:p>
            <a:pPr algn="just"/>
            <a:r>
              <a:rPr lang="en-US" dirty="0"/>
              <a:t>Let us do two practice problems to illustrate each tool. For now, we are assuming that the model (optimization problem) is given and only focus on algorithms.</a:t>
            </a:r>
          </a:p>
          <a:p>
            <a:endParaRPr lang="en-US" dirty="0"/>
          </a:p>
        </p:txBody>
      </p:sp>
    </p:spTree>
    <p:extLst>
      <p:ext uri="{BB962C8B-B14F-4D97-AF65-F5344CB8AC3E}">
        <p14:creationId xmlns:p14="http://schemas.microsoft.com/office/powerpoint/2010/main" val="35215052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4FCB9-E6BB-471F-1CFB-AC75D60D14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21A1BF-DC16-97EB-AC02-66451BD64CA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7B7944B-79E3-BAE8-1AD5-B61FA70EDAA6}"/>
              </a:ext>
            </a:extLst>
          </p:cNvPr>
          <p:cNvPicPr>
            <a:picLocks noChangeAspect="1"/>
          </p:cNvPicPr>
          <p:nvPr/>
        </p:nvPicPr>
        <p:blipFill rotWithShape="1">
          <a:blip r:embed="rId2"/>
          <a:srcRect l="22765" t="23529" r="24382" b="7765"/>
          <a:stretch/>
        </p:blipFill>
        <p:spPr>
          <a:xfrm>
            <a:off x="1770689" y="-3175"/>
            <a:ext cx="8650622" cy="6325497"/>
          </a:xfrm>
          <a:prstGeom prst="rect">
            <a:avLst/>
          </a:prstGeom>
        </p:spPr>
      </p:pic>
    </p:spTree>
    <p:extLst>
      <p:ext uri="{BB962C8B-B14F-4D97-AF65-F5344CB8AC3E}">
        <p14:creationId xmlns:p14="http://schemas.microsoft.com/office/powerpoint/2010/main" val="6108874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72F5-6E23-AA84-C4BC-403DC2132E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9C7AA2-5356-5510-0FA1-E8E5AFFA50E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8D593AB-8A5C-3FA5-EC1A-934C10BCB337}"/>
              </a:ext>
            </a:extLst>
          </p:cNvPr>
          <p:cNvPicPr>
            <a:picLocks noChangeAspect="1"/>
          </p:cNvPicPr>
          <p:nvPr/>
        </p:nvPicPr>
        <p:blipFill rotWithShape="1">
          <a:blip r:embed="rId2"/>
          <a:srcRect l="23118" t="24652" r="22882" b="9931"/>
          <a:stretch/>
        </p:blipFill>
        <p:spPr>
          <a:xfrm>
            <a:off x="1265346" y="0"/>
            <a:ext cx="9191087" cy="6263024"/>
          </a:xfrm>
          <a:prstGeom prst="rect">
            <a:avLst/>
          </a:prstGeom>
        </p:spPr>
      </p:pic>
    </p:spTree>
    <p:extLst>
      <p:ext uri="{BB962C8B-B14F-4D97-AF65-F5344CB8AC3E}">
        <p14:creationId xmlns:p14="http://schemas.microsoft.com/office/powerpoint/2010/main" val="10809813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F6978-D2A4-56BF-CC1A-41CF31A6DF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250BC9-CF85-7753-85C0-D22B725DB77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3CAB23B-5B6F-AC80-E992-2B3DDB846999}"/>
              </a:ext>
            </a:extLst>
          </p:cNvPr>
          <p:cNvPicPr>
            <a:picLocks noChangeAspect="1"/>
          </p:cNvPicPr>
          <p:nvPr/>
        </p:nvPicPr>
        <p:blipFill rotWithShape="1">
          <a:blip r:embed="rId2"/>
          <a:srcRect l="22764" t="18823" r="24030" b="12157"/>
          <a:stretch/>
        </p:blipFill>
        <p:spPr>
          <a:xfrm>
            <a:off x="1818042" y="225911"/>
            <a:ext cx="8005377" cy="5841402"/>
          </a:xfrm>
          <a:prstGeom prst="rect">
            <a:avLst/>
          </a:prstGeom>
        </p:spPr>
      </p:pic>
    </p:spTree>
    <p:extLst>
      <p:ext uri="{BB962C8B-B14F-4D97-AF65-F5344CB8AC3E}">
        <p14:creationId xmlns:p14="http://schemas.microsoft.com/office/powerpoint/2010/main" val="34888862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268C-8DC1-3D99-81E7-FECB96267C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154FA6-2186-8DF2-0B96-2F7DB0CAA584}"/>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48A9C283-7CE4-7E50-329F-DC3877E8106B}"/>
              </a:ext>
            </a:extLst>
          </p:cNvPr>
          <p:cNvPicPr>
            <a:picLocks noChangeAspect="1"/>
          </p:cNvPicPr>
          <p:nvPr/>
        </p:nvPicPr>
        <p:blipFill rotWithShape="1">
          <a:blip r:embed="rId2"/>
          <a:srcRect l="23824" t="20078" r="23235" b="27373"/>
          <a:stretch/>
        </p:blipFill>
        <p:spPr>
          <a:xfrm>
            <a:off x="258183" y="162082"/>
            <a:ext cx="11790381" cy="6582963"/>
          </a:xfrm>
          <a:prstGeom prst="rect">
            <a:avLst/>
          </a:prstGeom>
        </p:spPr>
      </p:pic>
    </p:spTree>
    <p:extLst>
      <p:ext uri="{BB962C8B-B14F-4D97-AF65-F5344CB8AC3E}">
        <p14:creationId xmlns:p14="http://schemas.microsoft.com/office/powerpoint/2010/main" val="917777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EC730-A783-09B0-575B-AFCE5529B2DC}"/>
              </a:ext>
            </a:extLst>
          </p:cNvPr>
          <p:cNvSpPr>
            <a:spLocks noGrp="1"/>
          </p:cNvSpPr>
          <p:nvPr>
            <p:ph type="title"/>
          </p:nvPr>
        </p:nvSpPr>
        <p:spPr>
          <a:xfrm>
            <a:off x="676835" y="2527412"/>
            <a:ext cx="10515600" cy="1325563"/>
          </a:xfrm>
        </p:spPr>
        <p:txBody>
          <a:bodyPr/>
          <a:lstStyle/>
          <a:p>
            <a:pPr algn="ctr"/>
            <a:r>
              <a:rPr lang="en-US" dirty="0"/>
              <a:t>Thank You</a:t>
            </a:r>
          </a:p>
        </p:txBody>
      </p:sp>
      <p:sp>
        <p:nvSpPr>
          <p:cNvPr id="3" name="Content Placeholder 2">
            <a:extLst>
              <a:ext uri="{FF2B5EF4-FFF2-40B4-BE49-F238E27FC236}">
                <a16:creationId xmlns:a16="http://schemas.microsoft.com/office/drawing/2014/main" id="{4EA9D625-DBE0-F4D3-2103-2F985FE6101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86544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TotalTime>
  <Words>4267</Words>
  <Application>Microsoft Office PowerPoint</Application>
  <PresentationFormat>Widescreen</PresentationFormat>
  <Paragraphs>163</Paragraphs>
  <Slides>63</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Calibri Light</vt:lpstr>
      <vt:lpstr>Office Theme</vt:lpstr>
      <vt:lpstr>Lecture-1  Overview </vt:lpstr>
      <vt:lpstr>Course Learning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Agents</vt:lpstr>
      <vt:lpstr>PowerPoint Presentation</vt:lpstr>
      <vt:lpstr>PowerPoint Presentation</vt:lpstr>
      <vt:lpstr>AI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this animal?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Recommended Books</vt:lpstr>
      <vt:lpstr>Other Resources</vt:lpstr>
      <vt:lpstr>Grading (Tentative)</vt:lpstr>
      <vt:lpstr>Logistics</vt:lpstr>
      <vt:lpstr>:</vt:lpstr>
      <vt:lpstr>PowerPoint Presentation</vt:lpstr>
      <vt:lpstr>Modeling-Inference-Learning Paradigm</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Lecture-1  Overview</dc:title>
  <dc:creator>Ayyaz  Hussain</dc:creator>
  <cp:lastModifiedBy>Ayyaz  Hussain</cp:lastModifiedBy>
  <cp:revision>56</cp:revision>
  <dcterms:created xsi:type="dcterms:W3CDTF">2022-09-17T05:09:25Z</dcterms:created>
  <dcterms:modified xsi:type="dcterms:W3CDTF">2023-10-02T05:28:44Z</dcterms:modified>
</cp:coreProperties>
</file>